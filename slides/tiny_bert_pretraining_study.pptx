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TF-IDF + LogReg</c:v>
                </c:pt>
              </c:strCache>
            </c:strRef>
          </c:tx>
          <c:spPr>
            <a:solidFill>
              <a:srgbClr val="7F7F7F"/>
            </a:solidFill>
            <a:ln w="31750" cap="flat">
              <a:solidFill>
                <a:srgbClr val="7F7F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7F7F7F"/>
              </a:solidFill>
              <a:ln w="9525" cap="flat">
                <a:solidFill>
                  <a:srgbClr val="7F7F7F"/>
                </a:solidFill>
                <a:prstDash val="solid"/>
                <a:round/>
              </a:ln>
              <a:effectLst/>
            </c:spPr>
          </c:marker>
          <c:cat>
            <c:multiLvlStrRef>
              <c:f>Sheet1!$A$2:$A$6</c:f>
              <c:multiLvlStrCache>
                <c:ptCount val="5"/>
                <c:lvl>
                  <c:pt idx="0">
                    <c:v>100</c:v>
                  </c:pt>
                  <c:pt idx="1">
                    <c:v>300</c:v>
                  </c:pt>
                  <c:pt idx="2">
                    <c:v>1000</c:v>
                  </c:pt>
                  <c:pt idx="3">
                    <c:v>3000</c:v>
                  </c:pt>
                  <c:pt idx="4">
                    <c:v>6920</c:v>
                  </c:pt>
                </c:lvl>
              </c:multiLvlStrCache>
            </c:multiLvlStrRef>
          </c:cat>
          <c:val>
            <c:numRef>
              <c:f>Sheet1!$B$2:$B$6</c:f>
              <c:numCache>
                <c:formatCode>General</c:formatCode>
                <c:ptCount val="5"/>
                <c:pt idx="0">
                  <c:v>57.9</c:v>
                </c:pt>
                <c:pt idx="1">
                  <c:v>63.2</c:v>
                </c:pt>
                <c:pt idx="2">
                  <c:v>70.5</c:v>
                </c:pt>
                <c:pt idx="3">
                  <c:v>77.5</c:v>
                </c:pt>
                <c:pt idx="4">
                  <c:v>81.3</c:v>
                </c:pt>
              </c:numCache>
            </c:numRef>
          </c:val>
          <c:smooth val="0"/>
        </c:ser>
        <c:ser>
          <c:idx val="1"/>
          <c:order val="1"/>
          <c:tx>
            <c:strRef>
              <c:f>Sheet1!$C$1</c:f>
              <c:strCache>
                <c:ptCount val="1"/>
                <c:pt idx="0">
                  <c:v>Tiny-BERT random init</c:v>
                </c:pt>
              </c:strCache>
            </c:strRef>
          </c:tx>
          <c:spPr>
            <a:solidFill>
              <a:srgbClr val="D95F02"/>
            </a:solidFill>
            <a:ln w="31750" cap="flat">
              <a:solidFill>
                <a:srgbClr val="D95F0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D95F02"/>
              </a:solidFill>
              <a:ln w="9525" cap="flat">
                <a:solidFill>
                  <a:srgbClr val="D95F02"/>
                </a:solidFill>
                <a:prstDash val="solid"/>
                <a:round/>
              </a:ln>
              <a:effectLst/>
            </c:spPr>
          </c:marker>
          <c:cat>
            <c:multiLvlStrRef>
              <c:f>Sheet1!$A$2:$A$6</c:f>
              <c:multiLvlStrCache>
                <c:ptCount val="5"/>
                <c:lvl>
                  <c:pt idx="0">
                    <c:v>100</c:v>
                  </c:pt>
                  <c:pt idx="1">
                    <c:v>300</c:v>
                  </c:pt>
                  <c:pt idx="2">
                    <c:v>1000</c:v>
                  </c:pt>
                  <c:pt idx="3">
                    <c:v>3000</c:v>
                  </c:pt>
                  <c:pt idx="4">
                    <c:v>6920</c:v>
                  </c:pt>
                </c:lvl>
              </c:multiLvlStrCache>
            </c:multiLvlStrRef>
          </c:cat>
          <c:val>
            <c:numRef>
              <c:f>Sheet1!$C$2:$C$6</c:f>
              <c:numCache>
                <c:formatCode>General</c:formatCode>
                <c:ptCount val="5"/>
                <c:pt idx="0">
                  <c:v>57</c:v>
                </c:pt>
                <c:pt idx="1">
                  <c:v>63.2</c:v>
                </c:pt>
                <c:pt idx="2">
                  <c:v>68.2</c:v>
                </c:pt>
                <c:pt idx="3">
                  <c:v>75.2</c:v>
                </c:pt>
                <c:pt idx="4">
                  <c:v>78.5</c:v>
                </c:pt>
              </c:numCache>
            </c:numRef>
          </c:val>
          <c:smooth val="0"/>
        </c:ser>
        <c:ser>
          <c:idx val="2"/>
          <c:order val="2"/>
          <c:tx>
            <c:strRef>
              <c:f>Sheet1!$D$1</c:f>
              <c:strCache>
                <c:ptCount val="1"/>
                <c:pt idx="0">
                  <c:v>Tiny-BERT + MLM</c:v>
                </c:pt>
              </c:strCache>
            </c:strRef>
          </c:tx>
          <c:spPr>
            <a:solidFill>
              <a:srgbClr val="1B9E77"/>
            </a:solidFill>
            <a:ln w="31750" cap="flat">
              <a:solidFill>
                <a:srgbClr val="1B9E7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B9E77"/>
              </a:solidFill>
              <a:ln w="9525" cap="flat">
                <a:solidFill>
                  <a:srgbClr val="1B9E77"/>
                </a:solidFill>
                <a:prstDash val="solid"/>
                <a:round/>
              </a:ln>
              <a:effectLst/>
            </c:spPr>
          </c:marker>
          <c:cat>
            <c:multiLvlStrRef>
              <c:f>Sheet1!$A$2:$A$6</c:f>
              <c:multiLvlStrCache>
                <c:ptCount val="5"/>
                <c:lvl>
                  <c:pt idx="0">
                    <c:v>100</c:v>
                  </c:pt>
                  <c:pt idx="1">
                    <c:v>300</c:v>
                  </c:pt>
                  <c:pt idx="2">
                    <c:v>1000</c:v>
                  </c:pt>
                  <c:pt idx="3">
                    <c:v>3000</c:v>
                  </c:pt>
                  <c:pt idx="4">
                    <c:v>6920</c:v>
                  </c:pt>
                </c:lvl>
              </c:multiLvlStrCache>
            </c:multiLvlStrRef>
          </c:cat>
          <c:val>
            <c:numRef>
              <c:f>Sheet1!$D$2:$D$6</c:f>
              <c:numCache>
                <c:formatCode>General</c:formatCode>
                <c:ptCount val="5"/>
                <c:pt idx="0">
                  <c:v>56.8</c:v>
                </c:pt>
                <c:pt idx="1">
                  <c:v>58.7</c:v>
                </c:pt>
                <c:pt idx="2">
                  <c:v>65.7</c:v>
                </c:pt>
                <c:pt idx="3">
                  <c:v>72.9</c:v>
                </c:pt>
                <c:pt idx="4">
                  <c:v>77.5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B6472"/>
                    </a:solidFill>
                    <a:latin typeface="Arial"/>
                  </a:defRPr>
                </a:pPr>
                <a:r>
                  <a:rPr sz="1000" b="0" i="0" u="none" strike="noStrike">
                    <a:solidFill>
                      <a:srgbClr val="5B6472"/>
                    </a:solidFill>
                    <a:latin typeface="Arial"/>
                  </a:rPr>
                  <a:t>labeled training sentences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B6472"/>
                </a:solidFill>
                <a:latin typeface="Calibri"/>
              </a:defRPr>
            </a:pPr>
            <a:endParaRPr lang="en-US"/>
          </a:p>
        </c:txPr>
        <c:crossAx val="2094734552"/>
        <c:crosses val="autoZero"/>
        <c:auto val="1"/>
        <c:lblAlgn val="ctr"/>
        <c:noMultiLvlLbl val="1"/>
      </c:catAx>
      <c:valAx>
        <c:axId val="2094734552"/>
        <c:scaling>
          <c:orientation val="minMax"/>
          <c:max val="85"/>
          <c:min val="5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50" b="0" i="0" u="none" strike="noStrike">
                <a:solidFill>
                  <a:srgbClr val="5B6472"/>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F29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TF-IDF + LogReg</c:v>
                </c:pt>
              </c:strCache>
            </c:strRef>
          </c:tx>
          <c:spPr>
            <a:solidFill>
              <a:srgbClr val="7F7F7F"/>
            </a:solidFill>
            <a:effectLst/>
          </c:spPr>
          <c:invertIfNegative val="0"/>
          <c:dLbls>
            <c:numFmt formatCode="0.0" sourceLinked="0"/>
            <c:txPr>
              <a:bodyPr/>
              <a:lstStyle/>
              <a:p>
                <a:pPr>
                  <a:defRPr b="0" i="0" strike="noStrike" sz="800" u="none">
                    <a:solidFill>
                      <a:srgbClr val="1F2937"/>
                    </a:solidFill>
                    <a:latin typeface="Arial"/>
                  </a:defRPr>
                </a:pPr>
              </a:p>
            </c:txPr>
            <c:showLegendKey val="0"/>
            <c:showVal val="1"/>
            <c:showCatName val="0"/>
            <c:showSerName val="0"/>
            <c:showPercent val="0"/>
            <c:showBubbleSize val="0"/>
            <c:showLeaderLines val="0"/>
          </c:dLbls>
          <c:cat>
            <c:multiLvlStrRef>
              <c:f>Sheet1!$A$2:$A$4</c:f>
              <c:multiLvlStrCache>
                <c:ptCount val="3"/>
                <c:lvl>
                  <c:pt idx="0">
                    <c:v>clean</c:v>
                  </c:pt>
                  <c:pt idx="1">
                    <c:v>typos 30%</c:v>
                  </c:pt>
                  <c:pt idx="2">
                    <c:v>OOD IMDb</c:v>
                  </c:pt>
                </c:lvl>
              </c:multiLvlStrCache>
            </c:multiLvlStrRef>
          </c:cat>
          <c:val>
            <c:numRef>
              <c:f>Sheet1!$B$2:$B$4</c:f>
              <c:numCache>
                <c:formatCode>General</c:formatCode>
                <c:ptCount val="3"/>
                <c:pt idx="0">
                  <c:v>81.3</c:v>
                </c:pt>
                <c:pt idx="1">
                  <c:v>77.5</c:v>
                </c:pt>
                <c:pt idx="2">
                  <c:v>72.5</c:v>
                </c:pt>
              </c:numCache>
            </c:numRef>
          </c:val>
        </c:ser>
        <c:ser>
          <c:idx val="1"/>
          <c:order val="1"/>
          <c:tx>
            <c:strRef>
              <c:f>Sheet1!$C$1</c:f>
              <c:strCache>
                <c:ptCount val="1"/>
                <c:pt idx="0">
                  <c:v>Tiny random init</c:v>
                </c:pt>
              </c:strCache>
            </c:strRef>
          </c:tx>
          <c:spPr>
            <a:solidFill>
              <a:srgbClr val="D95F02"/>
            </a:solidFill>
            <a:effectLst/>
          </c:spPr>
          <c:invertIfNegative val="0"/>
          <c:dLbls>
            <c:numFmt formatCode="0.0" sourceLinked="0"/>
            <c:txPr>
              <a:bodyPr/>
              <a:lstStyle/>
              <a:p>
                <a:pPr>
                  <a:defRPr b="0" i="0" strike="noStrike" sz="800" u="none">
                    <a:solidFill>
                      <a:srgbClr val="1F2937"/>
                    </a:solidFill>
                    <a:latin typeface="Arial"/>
                  </a:defRPr>
                </a:pPr>
              </a:p>
            </c:txPr>
            <c:showLegendKey val="0"/>
            <c:showVal val="1"/>
            <c:showCatName val="0"/>
            <c:showSerName val="0"/>
            <c:showPercent val="0"/>
            <c:showBubbleSize val="0"/>
            <c:showLeaderLines val="0"/>
          </c:dLbls>
          <c:cat>
            <c:multiLvlStrRef>
              <c:f>Sheet1!$A$2:$A$4</c:f>
              <c:multiLvlStrCache>
                <c:ptCount val="3"/>
                <c:lvl>
                  <c:pt idx="0">
                    <c:v>clean</c:v>
                  </c:pt>
                  <c:pt idx="1">
                    <c:v>typos 30%</c:v>
                  </c:pt>
                  <c:pt idx="2">
                    <c:v>OOD IMDb</c:v>
                  </c:pt>
                </c:lvl>
              </c:multiLvlStrCache>
            </c:multiLvlStrRef>
          </c:cat>
          <c:val>
            <c:numRef>
              <c:f>Sheet1!$C$2:$C$4</c:f>
              <c:numCache>
                <c:formatCode>General</c:formatCode>
                <c:ptCount val="3"/>
                <c:pt idx="0">
                  <c:v>78.5</c:v>
                </c:pt>
                <c:pt idx="1">
                  <c:v>73.6</c:v>
                </c:pt>
                <c:pt idx="2">
                  <c:v>68.1</c:v>
                </c:pt>
              </c:numCache>
            </c:numRef>
          </c:val>
        </c:ser>
        <c:ser>
          <c:idx val="2"/>
          <c:order val="2"/>
          <c:tx>
            <c:strRef>
              <c:f>Sheet1!$D$1</c:f>
              <c:strCache>
                <c:ptCount val="1"/>
                <c:pt idx="0">
                  <c:v>Tiny + MLM</c:v>
                </c:pt>
              </c:strCache>
            </c:strRef>
          </c:tx>
          <c:spPr>
            <a:solidFill>
              <a:srgbClr val="1B9E77"/>
            </a:solidFill>
            <a:effectLst/>
          </c:spPr>
          <c:invertIfNegative val="0"/>
          <c:dLbls>
            <c:numFmt formatCode="0.0" sourceLinked="0"/>
            <c:txPr>
              <a:bodyPr/>
              <a:lstStyle/>
              <a:p>
                <a:pPr>
                  <a:defRPr b="0" i="0" strike="noStrike" sz="800" u="none">
                    <a:solidFill>
                      <a:srgbClr val="1F2937"/>
                    </a:solidFill>
                    <a:latin typeface="Arial"/>
                  </a:defRPr>
                </a:pPr>
              </a:p>
            </c:txPr>
            <c:showLegendKey val="0"/>
            <c:showVal val="1"/>
            <c:showCatName val="0"/>
            <c:showSerName val="0"/>
            <c:showPercent val="0"/>
            <c:showBubbleSize val="0"/>
            <c:showLeaderLines val="0"/>
          </c:dLbls>
          <c:cat>
            <c:multiLvlStrRef>
              <c:f>Sheet1!$A$2:$A$4</c:f>
              <c:multiLvlStrCache>
                <c:ptCount val="3"/>
                <c:lvl>
                  <c:pt idx="0">
                    <c:v>clean</c:v>
                  </c:pt>
                  <c:pt idx="1">
                    <c:v>typos 30%</c:v>
                  </c:pt>
                  <c:pt idx="2">
                    <c:v>OOD IMDb</c:v>
                  </c:pt>
                </c:lvl>
              </c:multiLvlStrCache>
            </c:multiLvlStrRef>
          </c:cat>
          <c:val>
            <c:numRef>
              <c:f>Sheet1!$D$2:$D$4</c:f>
              <c:numCache>
                <c:formatCode>General</c:formatCode>
                <c:ptCount val="3"/>
                <c:pt idx="0">
                  <c:v>77.5</c:v>
                </c:pt>
                <c:pt idx="1">
                  <c:v>70.6</c:v>
                </c:pt>
                <c:pt idx="2">
                  <c:v>63.7</c:v>
                </c:pt>
              </c:numCache>
            </c:numRef>
          </c:val>
        </c:ser>
        <c:ser>
          <c:idx val="3"/>
          <c:order val="3"/>
          <c:tx>
            <c:strRef>
              <c:f>Sheet1!$E$1</c:f>
              <c:strCache>
                <c:ptCount val="1"/>
                <c:pt idx="0">
                  <c:v>BERT-Tiny (public)</c:v>
                </c:pt>
              </c:strCache>
            </c:strRef>
          </c:tx>
          <c:spPr>
            <a:solidFill>
              <a:srgbClr val="1F78B4"/>
            </a:solidFill>
            <a:effectLst/>
          </c:spPr>
          <c:invertIfNegative val="0"/>
          <c:dLbls>
            <c:numFmt formatCode="0.0" sourceLinked="0"/>
            <c:txPr>
              <a:bodyPr/>
              <a:lstStyle/>
              <a:p>
                <a:pPr>
                  <a:defRPr b="0" i="0" strike="noStrike" sz="800" u="none">
                    <a:solidFill>
                      <a:srgbClr val="1F2937"/>
                    </a:solidFill>
                    <a:latin typeface="Arial"/>
                  </a:defRPr>
                </a:pPr>
              </a:p>
            </c:txPr>
            <c:showLegendKey val="0"/>
            <c:showVal val="1"/>
            <c:showCatName val="0"/>
            <c:showSerName val="0"/>
            <c:showPercent val="0"/>
            <c:showBubbleSize val="0"/>
            <c:showLeaderLines val="0"/>
          </c:dLbls>
          <c:cat>
            <c:multiLvlStrRef>
              <c:f>Sheet1!$A$2:$A$4</c:f>
              <c:multiLvlStrCache>
                <c:ptCount val="3"/>
                <c:lvl>
                  <c:pt idx="0">
                    <c:v>clean</c:v>
                  </c:pt>
                  <c:pt idx="1">
                    <c:v>typos 30%</c:v>
                  </c:pt>
                  <c:pt idx="2">
                    <c:v>OOD IMDb</c:v>
                  </c:pt>
                </c:lvl>
              </c:multiLvlStrCache>
            </c:multiLvlStrRef>
          </c:cat>
          <c:val>
            <c:numRef>
              <c:f>Sheet1!$E$2:$E$4</c:f>
              <c:numCache>
                <c:formatCode>General</c:formatCode>
                <c:ptCount val="3"/>
                <c:pt idx="0">
                  <c:v>81.7</c:v>
                </c:pt>
                <c:pt idx="1">
                  <c:v>74.6</c:v>
                </c:pt>
                <c:pt idx="2">
                  <c:v>69.1</c:v>
                </c:pt>
              </c:numCache>
            </c:numRef>
          </c:val>
        </c:ser>
        <c:ser>
          <c:idx val="4"/>
          <c:order val="4"/>
          <c:tx>
            <c:strRef>
              <c:f>Sheet1!$F$1</c:f>
              <c:strCache>
                <c:ptCount val="1"/>
                <c:pt idx="0">
                  <c:v>DistilBERT (public)</c:v>
                </c:pt>
              </c:strCache>
            </c:strRef>
          </c:tx>
          <c:spPr>
            <a:solidFill>
              <a:srgbClr val="7570B3"/>
            </a:solidFill>
            <a:effectLst/>
          </c:spPr>
          <c:invertIfNegative val="0"/>
          <c:dLbls>
            <c:numFmt formatCode="0.0" sourceLinked="0"/>
            <c:txPr>
              <a:bodyPr/>
              <a:lstStyle/>
              <a:p>
                <a:pPr>
                  <a:defRPr b="0" i="0" strike="noStrike" sz="800" u="none">
                    <a:solidFill>
                      <a:srgbClr val="1F2937"/>
                    </a:solidFill>
                    <a:latin typeface="Arial"/>
                  </a:defRPr>
                </a:pPr>
              </a:p>
            </c:txPr>
            <c:showLegendKey val="0"/>
            <c:showVal val="1"/>
            <c:showCatName val="0"/>
            <c:showSerName val="0"/>
            <c:showPercent val="0"/>
            <c:showBubbleSize val="0"/>
            <c:showLeaderLines val="0"/>
          </c:dLbls>
          <c:cat>
            <c:multiLvlStrRef>
              <c:f>Sheet1!$A$2:$A$4</c:f>
              <c:multiLvlStrCache>
                <c:ptCount val="3"/>
                <c:lvl>
                  <c:pt idx="0">
                    <c:v>clean</c:v>
                  </c:pt>
                  <c:pt idx="1">
                    <c:v>typos 30%</c:v>
                  </c:pt>
                  <c:pt idx="2">
                    <c:v>OOD IMDb</c:v>
                  </c:pt>
                </c:lvl>
              </c:multiLvlStrCache>
            </c:multiLvlStrRef>
          </c:cat>
          <c:val>
            <c:numRef>
              <c:f>Sheet1!$F$2:$F$4</c:f>
              <c:numCache>
                <c:formatCode>General</c:formatCode>
                <c:ptCount val="3"/>
                <c:pt idx="0">
                  <c:v>90.4</c:v>
                </c:pt>
                <c:pt idx="1">
                  <c:v>83.9</c:v>
                </c:pt>
                <c:pt idx="2">
                  <c:v>72.8</c:v>
                </c:pt>
              </c:numCache>
            </c:numRef>
          </c:val>
        </c:ser>
        <c:dLbls>
          <c:numFmt formatCode="0.0" sourceLinked="0"/>
          <c:txPr>
            <a:bodyPr/>
            <a:lstStyle/>
            <a:p>
              <a:pPr>
                <a:defRPr b="0" i="0" strike="noStrike" sz="800" u="none">
                  <a:solidFill>
                    <a:srgbClr val="1F2937"/>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B6472"/>
                </a:solidFill>
                <a:latin typeface="Calibri"/>
              </a:defRPr>
            </a:pPr>
            <a:endParaRPr lang="en-US"/>
          </a:p>
        </c:txPr>
        <c:crossAx val="2094734552"/>
        <c:crosses val="autoZero"/>
        <c:auto val="1"/>
        <c:lblAlgn val="ctr"/>
        <c:noMultiLvlLbl val="1"/>
      </c:catAx>
      <c:valAx>
        <c:axId val="2094734552"/>
        <c:scaling>
          <c:orientation val="minMax"/>
          <c:max val="95"/>
          <c:min val="55"/>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50" b="0" i="0" u="none" strike="noStrike">
                <a:solidFill>
                  <a:srgbClr val="5B6472"/>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F29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TF-IDF + LogReg</c:v>
                </c:pt>
              </c:strCache>
            </c:strRef>
          </c:tx>
          <c:spPr>
            <a:solidFill>
              <a:srgbClr val="7F7F7F"/>
            </a:solidFill>
            <a:effectLst/>
          </c:spPr>
          <c:invertIfNegative val="0"/>
          <c:dLbls>
            <c:numFmt formatCode="0.0" sourceLinked="0"/>
            <c:txPr>
              <a:bodyPr/>
              <a:lstStyle/>
              <a:p>
                <a:pPr>
                  <a:defRPr b="0" i="0" strike="noStrike" sz="800" u="none">
                    <a:solidFill>
                      <a:srgbClr val="1F2937"/>
                    </a:solidFill>
                    <a:latin typeface="Arial"/>
                  </a:defRPr>
                </a:pPr>
              </a:p>
            </c:txPr>
            <c:showLegendKey val="0"/>
            <c:showVal val="1"/>
            <c:showCatName val="0"/>
            <c:showSerName val="0"/>
            <c:showPercent val="0"/>
            <c:showBubbleSize val="0"/>
            <c:showLeaderLines val="0"/>
          </c:dLbls>
          <c:cat>
            <c:multiLvlStrRef>
              <c:f>Sheet1!$A$2:$A$3</c:f>
              <c:multiLvlStrCache>
                <c:ptCount val="2"/>
                <c:lvl>
                  <c:pt idx="0">
                    <c:v>n = 1,000</c:v>
                  </c:pt>
                  <c:pt idx="1">
                    <c:v>n = 6,920</c:v>
                  </c:pt>
                </c:lvl>
              </c:multiLvlStrCache>
            </c:multiLvlStrRef>
          </c:cat>
          <c:val>
            <c:numRef>
              <c:f>Sheet1!$B$2:$B$3</c:f>
              <c:numCache>
                <c:formatCode>General</c:formatCode>
                <c:ptCount val="2"/>
                <c:pt idx="0">
                  <c:v>70.5</c:v>
                </c:pt>
                <c:pt idx="1">
                  <c:v>81.3</c:v>
                </c:pt>
              </c:numCache>
            </c:numRef>
          </c:val>
        </c:ser>
        <c:ser>
          <c:idx val="1"/>
          <c:order val="1"/>
          <c:tx>
            <c:strRef>
              <c:f>Sheet1!$C$1</c:f>
              <c:strCache>
                <c:ptCount val="1"/>
                <c:pt idx="0">
                  <c:v>Tiny + MLM (ours)</c:v>
                </c:pt>
              </c:strCache>
            </c:strRef>
          </c:tx>
          <c:spPr>
            <a:solidFill>
              <a:srgbClr val="1B9E77"/>
            </a:solidFill>
            <a:effectLst/>
          </c:spPr>
          <c:invertIfNegative val="0"/>
          <c:dLbls>
            <c:numFmt formatCode="0.0" sourceLinked="0"/>
            <c:txPr>
              <a:bodyPr/>
              <a:lstStyle/>
              <a:p>
                <a:pPr>
                  <a:defRPr b="0" i="0" strike="noStrike" sz="800" u="none">
                    <a:solidFill>
                      <a:srgbClr val="1F2937"/>
                    </a:solidFill>
                    <a:latin typeface="Arial"/>
                  </a:defRPr>
                </a:pPr>
              </a:p>
            </c:txPr>
            <c:showLegendKey val="0"/>
            <c:showVal val="1"/>
            <c:showCatName val="0"/>
            <c:showSerName val="0"/>
            <c:showPercent val="0"/>
            <c:showBubbleSize val="0"/>
            <c:showLeaderLines val="0"/>
          </c:dLbls>
          <c:cat>
            <c:multiLvlStrRef>
              <c:f>Sheet1!$A$2:$A$3</c:f>
              <c:multiLvlStrCache>
                <c:ptCount val="2"/>
                <c:lvl>
                  <c:pt idx="0">
                    <c:v>n = 1,000</c:v>
                  </c:pt>
                  <c:pt idx="1">
                    <c:v>n = 6,920</c:v>
                  </c:pt>
                </c:lvl>
              </c:multiLvlStrCache>
            </c:multiLvlStrRef>
          </c:cat>
          <c:val>
            <c:numRef>
              <c:f>Sheet1!$C$2:$C$3</c:f>
              <c:numCache>
                <c:formatCode>General</c:formatCode>
                <c:ptCount val="2"/>
                <c:pt idx="0">
                  <c:v>65.7</c:v>
                </c:pt>
                <c:pt idx="1">
                  <c:v>77.5</c:v>
                </c:pt>
              </c:numCache>
            </c:numRef>
          </c:val>
        </c:ser>
        <c:ser>
          <c:idx val="2"/>
          <c:order val="2"/>
          <c:tx>
            <c:strRef>
              <c:f>Sheet1!$D$1</c:f>
              <c:strCache>
                <c:ptCount val="1"/>
                <c:pt idx="0">
                  <c:v>BERT-Tiny (public, 4.4M)</c:v>
                </c:pt>
              </c:strCache>
            </c:strRef>
          </c:tx>
          <c:spPr>
            <a:solidFill>
              <a:srgbClr val="1F78B4"/>
            </a:solidFill>
            <a:effectLst/>
          </c:spPr>
          <c:invertIfNegative val="0"/>
          <c:dLbls>
            <c:numFmt formatCode="0.0" sourceLinked="0"/>
            <c:txPr>
              <a:bodyPr/>
              <a:lstStyle/>
              <a:p>
                <a:pPr>
                  <a:defRPr b="0" i="0" strike="noStrike" sz="800" u="none">
                    <a:solidFill>
                      <a:srgbClr val="1F2937"/>
                    </a:solidFill>
                    <a:latin typeface="Arial"/>
                  </a:defRPr>
                </a:pPr>
              </a:p>
            </c:txPr>
            <c:showLegendKey val="0"/>
            <c:showVal val="1"/>
            <c:showCatName val="0"/>
            <c:showSerName val="0"/>
            <c:showPercent val="0"/>
            <c:showBubbleSize val="0"/>
            <c:showLeaderLines val="0"/>
          </c:dLbls>
          <c:cat>
            <c:multiLvlStrRef>
              <c:f>Sheet1!$A$2:$A$3</c:f>
              <c:multiLvlStrCache>
                <c:ptCount val="2"/>
                <c:lvl>
                  <c:pt idx="0">
                    <c:v>n = 1,000</c:v>
                  </c:pt>
                  <c:pt idx="1">
                    <c:v>n = 6,920</c:v>
                  </c:pt>
                </c:lvl>
              </c:multiLvlStrCache>
            </c:multiLvlStrRef>
          </c:cat>
          <c:val>
            <c:numRef>
              <c:f>Sheet1!$D$2:$D$3</c:f>
              <c:numCache>
                <c:formatCode>General</c:formatCode>
                <c:ptCount val="2"/>
                <c:pt idx="0">
                  <c:v>75</c:v>
                </c:pt>
                <c:pt idx="1">
                  <c:v>81.7</c:v>
                </c:pt>
              </c:numCache>
            </c:numRef>
          </c:val>
        </c:ser>
        <c:ser>
          <c:idx val="3"/>
          <c:order val="3"/>
          <c:tx>
            <c:strRef>
              <c:f>Sheet1!$E$1</c:f>
              <c:strCache>
                <c:ptCount val="1"/>
                <c:pt idx="0">
                  <c:v>DistilBERT (public, 66.4M)</c:v>
                </c:pt>
              </c:strCache>
            </c:strRef>
          </c:tx>
          <c:spPr>
            <a:solidFill>
              <a:srgbClr val="7570B3"/>
            </a:solidFill>
            <a:effectLst/>
          </c:spPr>
          <c:invertIfNegative val="0"/>
          <c:dLbls>
            <c:numFmt formatCode="0.0" sourceLinked="0"/>
            <c:txPr>
              <a:bodyPr/>
              <a:lstStyle/>
              <a:p>
                <a:pPr>
                  <a:defRPr b="0" i="0" strike="noStrike" sz="800" u="none">
                    <a:solidFill>
                      <a:srgbClr val="1F2937"/>
                    </a:solidFill>
                    <a:latin typeface="Arial"/>
                  </a:defRPr>
                </a:pPr>
              </a:p>
            </c:txPr>
            <c:showLegendKey val="0"/>
            <c:showVal val="1"/>
            <c:showCatName val="0"/>
            <c:showSerName val="0"/>
            <c:showPercent val="0"/>
            <c:showBubbleSize val="0"/>
            <c:showLeaderLines val="0"/>
          </c:dLbls>
          <c:cat>
            <c:multiLvlStrRef>
              <c:f>Sheet1!$A$2:$A$3</c:f>
              <c:multiLvlStrCache>
                <c:ptCount val="2"/>
                <c:lvl>
                  <c:pt idx="0">
                    <c:v>n = 1,000</c:v>
                  </c:pt>
                  <c:pt idx="1">
                    <c:v>n = 6,920</c:v>
                  </c:pt>
                </c:lvl>
              </c:multiLvlStrCache>
            </c:multiLvlStrRef>
          </c:cat>
          <c:val>
            <c:numRef>
              <c:f>Sheet1!$E$2:$E$3</c:f>
              <c:numCache>
                <c:formatCode>General</c:formatCode>
                <c:ptCount val="2"/>
                <c:pt idx="0">
                  <c:v>86.5</c:v>
                </c:pt>
                <c:pt idx="1">
                  <c:v>90.4</c:v>
                </c:pt>
              </c:numCache>
            </c:numRef>
          </c:val>
        </c:ser>
        <c:dLbls>
          <c:numFmt formatCode="0.0" sourceLinked="0"/>
          <c:txPr>
            <a:bodyPr/>
            <a:lstStyle/>
            <a:p>
              <a:pPr>
                <a:defRPr b="0" i="0" strike="noStrike" sz="800" u="none">
                  <a:solidFill>
                    <a:srgbClr val="1F2937"/>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B6472"/>
                </a:solidFill>
                <a:latin typeface="Calibri"/>
              </a:defRPr>
            </a:pPr>
            <a:endParaRPr lang="en-US"/>
          </a:p>
        </c:txPr>
        <c:crossAx val="2094734552"/>
        <c:crosses val="autoZero"/>
        <c:auto val="1"/>
        <c:lblAlgn val="ctr"/>
        <c:noMultiLvlLbl val="1"/>
      </c:catAx>
      <c:valAx>
        <c:axId val="2094734552"/>
        <c:scaling>
          <c:orientation val="minMax"/>
          <c:max val="95"/>
          <c:min val="55"/>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50" b="0" i="0" u="none" strike="noStrike">
                <a:solidFill>
                  <a:srgbClr val="5B6472"/>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F29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 0:00-0:45]
Good morning. I compare ways to use a small unlabeled corpus: train static embeddings or a tiny contextual model with MLM. I also include VADER as a separate external sentiment lexicon that uses no task labels and does not consume that corpus.
The CPU-only pipeline compares those approaches with TF-IDF, a tiny BERT with and without pre-training, and public checkpoints.
Beyond accuracy, I also look at robustness and - the twist - where models succeed or fail under ambiguity. Ten minutes, then five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Problem | 0:45-1:45]
Eight questions share a set of evaluation splits and test procedures. Model-specific tokenizers, features, and optimization settings differ where necessary; VADER is an external lexicon, while fastText and MLM use the same unlabeled corpus. RQ8 adds finance and airline transfer to the original SST-2 experiments.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Approach | 1:45-2:45]
Six families, one protocol. A VADER sentiment lexicon that never sees a training label. TF-IDF with word or character n-grams. word2vec and fastText - static embeddings trained on the exact same 1.2 million unlabeled words as our MLM pre-training. Our tiny BERT, with and without that pre-training. And public BERT-Tiny and DistilBERT.
Everything is evaluated on clean data, typos, word-drop, out-of-domain IMDb reviews, and - new for this version - ambiguity strata built from fine-grained SST-5 labels, confidence calibration, and simple linguistic markers like contrast words.
The tiny BERT has 1.17 million parameters and pre-trains in 13 minutes on one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Plateau | 2:45-3:15]
Quick sanity check before results. For the first 1,500 of 5,000 pre-training steps, the loss sits near the unigram entropy - the model is only learning word frequencies. It breaks out after that, ending at perplexity 77 and 29 percent masked-token accuracy. So pre-training is doing something real; the question is whether it helps.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Verdict | 3:15-4:00]
Here's the headline. From 300 labels on, the pre-trained model falls behind its own untrained twin - by 0.3 to 4.5 points, and the confidence intervals exclude zero at three of five budgets. TF-IDF then overtakes both. At laptop scale, this pre-training recipe did not pay off in the usual sense. But that's not the whole story - the next two slides are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Families | 4:00-5:00]
Among methods trained on the shared unlabeled corpus, fastText is the best trainable option at 100-300 labels and still beats MLM at 1,000 labels (70.2 versus 65.7 percent). It plateaus around 71 percent while TF-IDF and the transformers keep climbing. VADER is separate: it is an external lexicon using no task labels and does not consume this corpus; its 69.4 percent is equivalent to about 840 TF-IDF labels.
And character n-grams give the best typo robustness of any classical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Label-equivalence | 5:00-5:30]
To make these gaps concrete, I read every model's accuracy off the TF-IDF curve and asked: how many TF-IDF labels is this worth? Our pre-trained model at 1,000 labels is worth about 450 - less than half its own labels. DistilBERT at 1,000 labels beats TF-IDF with all 6,920 - almost a sevenfold saving. This is consistent with benefits from larger-scale pre-training, but the public checkpoint also differs in corpus, vocabulary and training recipe, so scale is not isolated.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Decoupling | 5:30-6:15]
Why the negative result? I tested each pre-training checkpoint two ways: fine-tune it, or freeze it and train only a linear probe. They disagree. The probe rises from 56.4 to 59.4 percent - MLM does add sentiment-relevant information. But fine-tuned accuracy falls, from 69.7 to 65.7. Our pre-trained weights are a better representation but a worse starting point for fine-tuning. The next slide shows exactly where that plays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Ambiguity | 6:15-7:15]
Here's the twist. I split test sentences by polarity strength, using fine-grained SST-5 labels: strong, clearly positive or negative, versus weak, mild and closer to neutral. At 1,000 labels, the estimated deficit is 4.7 points on STRONG-polarity sentences and 1.3 on WEAK-polarity sentences. The weak-stratum interval includes zero, which is inconclusive, not evidence that the effect disappears. The interaction is significant at this budget. Strong/weak polarity is an intensity proxy, not direct annotator disagreement.
And across every model I tried, confidence barely tracks ambiguity - the best AUROC for flagging a weak-polarity sentence from low confidence is 0.62, barely above chance. Worse, transformers trained on 1,000 labels are badly overconfident - calibration error of 23 to 26 percent, versus 3 to 6 for TF-IDF. You cannot trust a small transformer's confidence to tell you when it's unsure.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Robustness | 7:15-8:00]
Typos hurt every transformer more than TF-IDF - likely because WordPiece fragments misspelled words. And out-of-domain, on IMDb reviews, pre-training did not help our model, and no public checkpoint beat TF-IDF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Twist | 8:00-8:45]
Public BERT-Tiny shares our depth and width but differs in pre-training corpus, vocabulary, and training recipe; it scores 9.3 points above our model at 1,000 labels. This is consistent with benefits from larger-scale pre-training, but it does not isolate scale as the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11b - Cross-domain | 8:45-9:30]
Does any of this generalise beyond movies? I repeated the two sharpest findings on two more domains with REAL ambiguity signals - finance news with actual annotator agreement tiers, and airline tweets with actual crowd-worker confidence scores.
At n=100 on airline, fastText has a 3.2-point higher accuracy estimate than +MLM; +MLM trails random initialization by about 1.8 points. The archive does not currently reproduce the paired confidence intervals previously reported for these domain comparisons, so treat these as descriptive until the new bootstrap script is run.
Full-data point estimates are close in finance and airline, but the current artifacts do not support a reproducible claim of statistical equivalence. Cross-domain transfer is directional: scratch Tiny-BERT drops 4.7 points SST-2-to-airline and 35.1 points airline-to-SST-2; TF-IDF finance-to-airline drops 60.5 points. Interpret accuracy alongside Macro-F1 because the class distributions differ sharply.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Takeaways | 8:45-10:00]
Three findings. One: the best trainable use of the shared unlabeled corpus depends on label budget - fastText early, TF-IDF later; VADER is a separate external baseline. Two: at n=1000 the pre-training deficit is larger on strong-polarity examples, while the weak-stratum estimate is inconclusive. Three: confidence is a weak detector of this polarity-strength proxy, and small transformers are overconfident.
Field guide: a few hundred labels, fastText is a strong trainable option; with more labels, TF-IDF is competitive; public checkpoints perform well but the scale effect is not isolated. The three-domain base pipeline runs with one command, while public-checkpoint benchmarks are optional.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B1 - Cost | Q&amp;A]
Use if asked about efficiency. INT8 dynamic quantization cuts the tiny model's file by 25 percent with unchanged accuracy. TF-IDF is smaller, faster and more accurate than any transformer here. The fastText row is an estimate, not a separate measurement, and I say so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B2 - Statistics | Q&amp;A]
The interaction test - is the strong-polarity gap bigger than the weak-polarity gap - has a 95 percent interval of -3.5 to -0.3 at n=1000. The weak-stratum interval itself includes zero; polarity strength is not direct annotator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B3 - Limitations | Q&amp;A]
Be upfront: the ambiguity signal measures polarity strength, not real annotator disagreement, and covers most of the dataset as 'weak', so it's a coarse proxy. Public checkpoints used untuned learning rates and their predictions weren't stored, so no paired tests exist for them yet. Everything else is standard caveats: three seeds, one task, one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B4 - Reproducibility | Q&amp;A]
The default command runs the three-domain base study. The public-checkpoint benchmark remains optional because it needs model downloads and additional CPU time. Saved predictions support regeneration of the reported tables and the separate multi-domain bootstrap.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640080" y="960120"/>
            <a:ext cx="7863840" cy="100584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Same Words, Different Bets</a:t>
            </a:r>
            <a:endParaRPr lang="en-US" sz="4000" dirty="0"/>
          </a:p>
        </p:txBody>
      </p:sp>
      <p:sp>
        <p:nvSpPr>
          <p:cNvPr id="3" name="Text 1"/>
          <p:cNvSpPr txBox="1"/>
          <p:nvPr/>
        </p:nvSpPr>
        <p:spPr>
          <a:xfrm>
            <a:off x="640080" y="2057400"/>
            <a:ext cx="7863840" cy="822960"/>
          </a:xfrm>
          <a:prstGeom prst="rect">
            <a:avLst/>
          </a:prstGeom>
          <a:noFill/>
          <a:ln/>
        </p:spPr>
        <p:txBody>
          <a:bodyPr wrap="square" lIns="0" tIns="0" rIns="0" bIns="0" rtlCol="0" anchor="ctr"/>
          <a:lstStyle/>
          <a:p>
            <a:pPr indent="0" marL="0">
              <a:buNone/>
            </a:pPr>
            <a:r>
              <a:rPr lang="en-US" sz="1650" dirty="0">
                <a:solidFill>
                  <a:srgbClr val="C7D2E0"/>
                </a:solidFill>
                <a:latin typeface="Calibri" pitchFamily="34" charset="0"/>
                <a:ea typeface="Calibri" pitchFamily="34" charset="-122"/>
                <a:cs typeface="Calibri" pitchFamily="34" charset="-120"/>
              </a:rPr>
              <a:t>Lexicons, static embeddings and contextual pre-training for sentiment classification under scarce labels and ambiguity</a:t>
            </a:r>
            <a:endParaRPr lang="en-US" sz="1650" dirty="0"/>
          </a:p>
        </p:txBody>
      </p:sp>
      <p:sp>
        <p:nvSpPr>
          <p:cNvPr id="4" name="Shape 2"/>
          <p:cNvSpPr/>
          <p:nvPr/>
        </p:nvSpPr>
        <p:spPr>
          <a:xfrm>
            <a:off x="640080" y="3063240"/>
            <a:ext cx="1097280" cy="54864"/>
          </a:xfrm>
          <a:prstGeom prst="rect">
            <a:avLst/>
          </a:prstGeom>
          <a:solidFill>
            <a:srgbClr val="1B9E77"/>
          </a:solidFill>
          <a:ln w="12700">
            <a:solidFill>
              <a:srgbClr val="1B9E77"/>
            </a:solidFill>
            <a:prstDash val="solid"/>
          </a:ln>
        </p:spPr>
      </p:sp>
      <p:sp>
        <p:nvSpPr>
          <p:cNvPr id="5" name="Text 3"/>
          <p:cNvSpPr txBox="1"/>
          <p:nvPr/>
        </p:nvSpPr>
        <p:spPr>
          <a:xfrm>
            <a:off x="640080" y="3246120"/>
            <a:ext cx="7863840" cy="365760"/>
          </a:xfrm>
          <a:prstGeom prst="rect">
            <a:avLst/>
          </a:prstGeom>
          <a:noFill/>
          <a:ln/>
        </p:spPr>
        <p:txBody>
          <a:bodyPr wrap="square" lIns="0" tIns="0" rIns="0" bIns="0" rtlCol="0" anchor="ctr"/>
          <a:lstStyle/>
          <a:p>
            <a:pPr indent="0" marL="0">
              <a:buNone/>
            </a:pPr>
            <a:r>
              <a:rPr lang="en-US" sz="1400" i="1" dirty="0">
                <a:solidFill>
                  <a:srgbClr val="9FB3C8"/>
                </a:solidFill>
                <a:latin typeface="Calibri" pitchFamily="34" charset="0"/>
                <a:ea typeface="Calibri" pitchFamily="34" charset="-122"/>
                <a:cs typeface="Calibri" pitchFamily="34" charset="-120"/>
              </a:rPr>
              <a:t>How should a small unlabeled corpus be used: static embeddings or contextual pre-training?</a:t>
            </a:r>
            <a:endParaRPr lang="en-US" sz="1400" dirty="0"/>
          </a:p>
        </p:txBody>
      </p:sp>
      <p:sp>
        <p:nvSpPr>
          <p:cNvPr id="6" name="Text 4"/>
          <p:cNvSpPr txBox="1"/>
          <p:nvPr/>
        </p:nvSpPr>
        <p:spPr>
          <a:xfrm>
            <a:off x="640080" y="4114800"/>
            <a:ext cx="7863840" cy="365760"/>
          </a:xfrm>
          <a:prstGeom prst="rect">
            <a:avLst/>
          </a:prstGeom>
          <a:noFill/>
          <a:ln/>
        </p:spPr>
        <p:txBody>
          <a:bodyPr wrap="square" lIns="0" tIns="0" rIns="0" bIns="0" rtlCol="0" anchor="ctr"/>
          <a:lstStyle/>
          <a:p>
            <a:pPr indent="0" marL="0">
              <a:buNone/>
            </a:pPr>
            <a:r>
              <a:rPr lang="en-US" sz="1300" dirty="0">
                <a:solidFill>
                  <a:srgbClr val="9FB3C8"/>
                </a:solidFill>
                <a:latin typeface="Calibri" pitchFamily="34" charset="0"/>
                <a:ea typeface="Calibri" pitchFamily="34" charset="-122"/>
                <a:cs typeface="Calibri" pitchFamily="34" charset="-120"/>
              </a:rPr>
              <a:t>SST-2 + IMDb  |  CPU only  |  3 seeds  |  Anurag Prasad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9E77"/>
          </a:solidFill>
          <a:ln w="12700">
            <a:solidFill>
              <a:srgbClr val="1B9E77"/>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500" b="1" dirty="0">
                <a:solidFill>
                  <a:srgbClr val="14213D"/>
                </a:solidFill>
                <a:latin typeface="Calibri" pitchFamily="34" charset="0"/>
                <a:ea typeface="Calibri" pitchFamily="34" charset="-122"/>
                <a:cs typeface="Calibri" pitchFamily="34" charset="-120"/>
              </a:rPr>
              <a:t>The problem: eight questions, shared evaluation</a:t>
            </a:r>
            <a:endParaRPr lang="en-US" sz="2500" dirty="0"/>
          </a:p>
        </p:txBody>
      </p:sp>
      <p:sp>
        <p:nvSpPr>
          <p:cNvPr id="4" name="Text 2"/>
          <p:cNvSpPr txBox="1"/>
          <p:nvPr/>
        </p:nvSpPr>
        <p:spPr>
          <a:xfrm>
            <a:off x="411480" y="758952"/>
            <a:ext cx="832104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Shared splits and tests; model-specific features and tokenizers</a:t>
            </a:r>
            <a:endParaRPr lang="en-US" sz="1250" dirty="0"/>
          </a:p>
        </p:txBody>
      </p:sp>
      <p:sp>
        <p:nvSpPr>
          <p:cNvPr id="5" name="Shape 3"/>
          <p:cNvSpPr/>
          <p:nvPr/>
        </p:nvSpPr>
        <p:spPr>
          <a:xfrm>
            <a:off x="411480" y="1143000"/>
            <a:ext cx="8321040" cy="512064"/>
          </a:xfrm>
          <a:prstGeom prst="roundRect">
            <a:avLst>
              <a:gd name="adj" fmla="val 8929"/>
            </a:avLst>
          </a:prstGeom>
          <a:solidFill>
            <a:srgbClr val="F4F6F8"/>
          </a:solidFill>
          <a:ln w="12700">
            <a:solidFill>
              <a:srgbClr val="F4F6F8"/>
            </a:solidFill>
            <a:prstDash val="solid"/>
          </a:ln>
        </p:spPr>
      </p:sp>
      <p:sp>
        <p:nvSpPr>
          <p:cNvPr id="6" name="Text 4"/>
          <p:cNvSpPr txBox="1"/>
          <p:nvPr/>
        </p:nvSpPr>
        <p:spPr>
          <a:xfrm>
            <a:off x="548640" y="1143000"/>
            <a:ext cx="1188720" cy="512064"/>
          </a:xfrm>
          <a:prstGeom prst="rect">
            <a:avLst/>
          </a:prstGeom>
          <a:noFill/>
          <a:ln/>
        </p:spPr>
        <p:txBody>
          <a:bodyPr wrap="square" lIns="0" tIns="0" rIns="0" bIns="0" rtlCol="0" anchor="ctr"/>
          <a:lstStyle/>
          <a:p>
            <a:pPr indent="0" marL="0">
              <a:buNone/>
            </a:pPr>
            <a:r>
              <a:rPr lang="en-US" sz="1400" b="1" dirty="0">
                <a:solidFill>
                  <a:srgbClr val="1B9E77"/>
                </a:solidFill>
                <a:latin typeface="Calibri" pitchFamily="34" charset="0"/>
                <a:ea typeface="Calibri" pitchFamily="34" charset="-122"/>
                <a:cs typeface="Calibri" pitchFamily="34" charset="-120"/>
              </a:rPr>
              <a:t>RQ1-2</a:t>
            </a:r>
            <a:endParaRPr lang="en-US" sz="1400" dirty="0"/>
          </a:p>
        </p:txBody>
      </p:sp>
      <p:sp>
        <p:nvSpPr>
          <p:cNvPr id="7" name="Text 5"/>
          <p:cNvSpPr txBox="1"/>
          <p:nvPr/>
        </p:nvSpPr>
        <p:spPr>
          <a:xfrm>
            <a:off x="1828800" y="1143000"/>
            <a:ext cx="6766560" cy="512064"/>
          </a:xfrm>
          <a:prstGeom prst="rect">
            <a:avLst/>
          </a:prstGeom>
          <a:noFill/>
          <a:ln/>
        </p:spPr>
        <p:txBody>
          <a:bodyPr wrap="square" lIns="0" tIns="0" rIns="0" bIns="0" rtlCol="0" anchor="ctr"/>
          <a:lstStyle/>
          <a:p>
            <a:pPr indent="0" marL="0">
              <a:buNone/>
            </a:pPr>
            <a:r>
              <a:rPr lang="en-US" sz="1280" dirty="0">
                <a:solidFill>
                  <a:srgbClr val="1F2937"/>
                </a:solidFill>
                <a:latin typeface="Calibri" pitchFamily="34" charset="0"/>
                <a:ea typeface="Calibri" pitchFamily="34" charset="-122"/>
                <a:cs typeface="Calibri" pitchFamily="34" charset="-120"/>
              </a:rPr>
              <a:t>Does pre-training help, and how robust is it?</a:t>
            </a:r>
            <a:endParaRPr lang="en-US" sz="1280" dirty="0"/>
          </a:p>
        </p:txBody>
      </p:sp>
      <p:sp>
        <p:nvSpPr>
          <p:cNvPr id="8" name="Shape 6"/>
          <p:cNvSpPr/>
          <p:nvPr/>
        </p:nvSpPr>
        <p:spPr>
          <a:xfrm>
            <a:off x="411480" y="1764792"/>
            <a:ext cx="8321040" cy="512064"/>
          </a:xfrm>
          <a:prstGeom prst="roundRect">
            <a:avLst>
              <a:gd name="adj" fmla="val 8929"/>
            </a:avLst>
          </a:prstGeom>
          <a:solidFill>
            <a:srgbClr val="F4F6F8"/>
          </a:solidFill>
          <a:ln w="12700">
            <a:solidFill>
              <a:srgbClr val="F4F6F8"/>
            </a:solidFill>
            <a:prstDash val="solid"/>
          </a:ln>
        </p:spPr>
      </p:sp>
      <p:sp>
        <p:nvSpPr>
          <p:cNvPr id="9" name="Text 7"/>
          <p:cNvSpPr txBox="1"/>
          <p:nvPr/>
        </p:nvSpPr>
        <p:spPr>
          <a:xfrm>
            <a:off x="548640" y="1764792"/>
            <a:ext cx="1188720" cy="512064"/>
          </a:xfrm>
          <a:prstGeom prst="rect">
            <a:avLst/>
          </a:prstGeom>
          <a:noFill/>
          <a:ln/>
        </p:spPr>
        <p:txBody>
          <a:bodyPr wrap="square" lIns="0" tIns="0" rIns="0" bIns="0" rtlCol="0" anchor="ctr"/>
          <a:lstStyle/>
          <a:p>
            <a:pPr indent="0" marL="0">
              <a:buNone/>
            </a:pPr>
            <a:r>
              <a:rPr lang="en-US" sz="1400" b="1" dirty="0">
                <a:solidFill>
                  <a:srgbClr val="1B9E77"/>
                </a:solidFill>
                <a:latin typeface="Calibri" pitchFamily="34" charset="0"/>
                <a:ea typeface="Calibri" pitchFamily="34" charset="-122"/>
                <a:cs typeface="Calibri" pitchFamily="34" charset="-120"/>
              </a:rPr>
              <a:t>RQ3-4</a:t>
            </a:r>
            <a:endParaRPr lang="en-US" sz="1400" dirty="0"/>
          </a:p>
        </p:txBody>
      </p:sp>
      <p:sp>
        <p:nvSpPr>
          <p:cNvPr id="10" name="Text 8"/>
          <p:cNvSpPr txBox="1"/>
          <p:nvPr/>
        </p:nvSpPr>
        <p:spPr>
          <a:xfrm>
            <a:off x="1828800" y="1764792"/>
            <a:ext cx="6766560" cy="512064"/>
          </a:xfrm>
          <a:prstGeom prst="rect">
            <a:avLst/>
          </a:prstGeom>
          <a:noFill/>
          <a:ln/>
        </p:spPr>
        <p:txBody>
          <a:bodyPr wrap="square" lIns="0" tIns="0" rIns="0" bIns="0" rtlCol="0" anchor="ctr"/>
          <a:lstStyle/>
          <a:p>
            <a:pPr indent="0" marL="0">
              <a:buNone/>
            </a:pPr>
            <a:r>
              <a:rPr lang="en-US" sz="1280" dirty="0">
                <a:solidFill>
                  <a:srgbClr val="1F2937"/>
                </a:solidFill>
                <a:latin typeface="Calibri" pitchFamily="34" charset="0"/>
                <a:ea typeface="Calibri" pitchFamily="34" charset="-122"/>
                <a:cs typeface="Calibri" pitchFamily="34" charset="-120"/>
              </a:rPr>
              <a:t>How much pre-training is enough, and what does it cost?</a:t>
            </a:r>
            <a:endParaRPr lang="en-US" sz="1280" dirty="0"/>
          </a:p>
        </p:txBody>
      </p:sp>
      <p:sp>
        <p:nvSpPr>
          <p:cNvPr id="11" name="Shape 9"/>
          <p:cNvSpPr/>
          <p:nvPr/>
        </p:nvSpPr>
        <p:spPr>
          <a:xfrm>
            <a:off x="411480" y="2386584"/>
            <a:ext cx="8321040" cy="512064"/>
          </a:xfrm>
          <a:prstGeom prst="roundRect">
            <a:avLst>
              <a:gd name="adj" fmla="val 8929"/>
            </a:avLst>
          </a:prstGeom>
          <a:solidFill>
            <a:srgbClr val="F4F6F8"/>
          </a:solidFill>
          <a:ln w="12700">
            <a:solidFill>
              <a:srgbClr val="F4F6F8"/>
            </a:solidFill>
            <a:prstDash val="solid"/>
          </a:ln>
        </p:spPr>
      </p:sp>
      <p:sp>
        <p:nvSpPr>
          <p:cNvPr id="12" name="Text 10"/>
          <p:cNvSpPr txBox="1"/>
          <p:nvPr/>
        </p:nvSpPr>
        <p:spPr>
          <a:xfrm>
            <a:off x="548640" y="2386584"/>
            <a:ext cx="1188720" cy="512064"/>
          </a:xfrm>
          <a:prstGeom prst="rect">
            <a:avLst/>
          </a:prstGeom>
          <a:noFill/>
          <a:ln/>
        </p:spPr>
        <p:txBody>
          <a:bodyPr wrap="square" lIns="0" tIns="0" rIns="0" bIns="0" rtlCol="0" anchor="ctr"/>
          <a:lstStyle/>
          <a:p>
            <a:pPr indent="0" marL="0">
              <a:buNone/>
            </a:pPr>
            <a:r>
              <a:rPr lang="en-US" sz="1400" b="1" dirty="0">
                <a:solidFill>
                  <a:srgbClr val="1B9E77"/>
                </a:solidFill>
                <a:latin typeface="Calibri" pitchFamily="34" charset="0"/>
                <a:ea typeface="Calibri" pitchFamily="34" charset="-122"/>
                <a:cs typeface="Calibri" pitchFamily="34" charset="-120"/>
              </a:rPr>
              <a:t>RQ5</a:t>
            </a:r>
            <a:endParaRPr lang="en-US" sz="1400" dirty="0"/>
          </a:p>
        </p:txBody>
      </p:sp>
      <p:sp>
        <p:nvSpPr>
          <p:cNvPr id="13" name="Text 11"/>
          <p:cNvSpPr txBox="1"/>
          <p:nvPr/>
        </p:nvSpPr>
        <p:spPr>
          <a:xfrm>
            <a:off x="1828800" y="2386584"/>
            <a:ext cx="6766560" cy="512064"/>
          </a:xfrm>
          <a:prstGeom prst="rect">
            <a:avLst/>
          </a:prstGeom>
          <a:noFill/>
          <a:ln/>
        </p:spPr>
        <p:txBody>
          <a:bodyPr wrap="square" lIns="0" tIns="0" rIns="0" bIns="0" rtlCol="0" anchor="ctr"/>
          <a:lstStyle/>
          <a:p>
            <a:pPr indent="0" marL="0">
              <a:buNone/>
            </a:pPr>
            <a:r>
              <a:rPr lang="en-US" sz="1280" dirty="0">
                <a:solidFill>
                  <a:srgbClr val="1F2937"/>
                </a:solidFill>
                <a:latin typeface="Calibri" pitchFamily="34" charset="0"/>
                <a:ea typeface="Calibri" pitchFamily="34" charset="-122"/>
                <a:cs typeface="Calibri" pitchFamily="34" charset="-120"/>
              </a:rPr>
              <a:t>How far do public checkpoints move the picture?</a:t>
            </a:r>
            <a:endParaRPr lang="en-US" sz="1280" dirty="0"/>
          </a:p>
        </p:txBody>
      </p:sp>
      <p:sp>
        <p:nvSpPr>
          <p:cNvPr id="14" name="Shape 12"/>
          <p:cNvSpPr/>
          <p:nvPr/>
        </p:nvSpPr>
        <p:spPr>
          <a:xfrm>
            <a:off x="411480" y="3008376"/>
            <a:ext cx="8321040" cy="512064"/>
          </a:xfrm>
          <a:prstGeom prst="roundRect">
            <a:avLst>
              <a:gd name="adj" fmla="val 8929"/>
            </a:avLst>
          </a:prstGeom>
          <a:solidFill>
            <a:srgbClr val="F4F6F8"/>
          </a:solidFill>
          <a:ln w="12700">
            <a:solidFill>
              <a:srgbClr val="F4F6F8"/>
            </a:solidFill>
            <a:prstDash val="solid"/>
          </a:ln>
        </p:spPr>
      </p:sp>
      <p:sp>
        <p:nvSpPr>
          <p:cNvPr id="15" name="Text 13"/>
          <p:cNvSpPr txBox="1"/>
          <p:nvPr/>
        </p:nvSpPr>
        <p:spPr>
          <a:xfrm>
            <a:off x="548640" y="3008376"/>
            <a:ext cx="1188720" cy="512064"/>
          </a:xfrm>
          <a:prstGeom prst="rect">
            <a:avLst/>
          </a:prstGeom>
          <a:noFill/>
          <a:ln/>
        </p:spPr>
        <p:txBody>
          <a:bodyPr wrap="square" lIns="0" tIns="0" rIns="0" bIns="0" rtlCol="0" anchor="ctr"/>
          <a:lstStyle/>
          <a:p>
            <a:pPr indent="0" marL="0">
              <a:buNone/>
            </a:pPr>
            <a:r>
              <a:rPr lang="en-US" sz="1400" b="1" dirty="0">
                <a:solidFill>
                  <a:srgbClr val="1B9E77"/>
                </a:solidFill>
                <a:latin typeface="Calibri" pitchFamily="34" charset="0"/>
                <a:ea typeface="Calibri" pitchFamily="34" charset="-122"/>
                <a:cs typeface="Calibri" pitchFamily="34" charset="-120"/>
              </a:rPr>
              <a:t>RQ6</a:t>
            </a:r>
            <a:endParaRPr lang="en-US" sz="1400" dirty="0"/>
          </a:p>
        </p:txBody>
      </p:sp>
      <p:sp>
        <p:nvSpPr>
          <p:cNvPr id="16" name="Text 14"/>
          <p:cNvSpPr txBox="1"/>
          <p:nvPr/>
        </p:nvSpPr>
        <p:spPr>
          <a:xfrm>
            <a:off x="1828800" y="3008376"/>
            <a:ext cx="6766560" cy="512064"/>
          </a:xfrm>
          <a:prstGeom prst="rect">
            <a:avLst/>
          </a:prstGeom>
          <a:noFill/>
          <a:ln/>
        </p:spPr>
        <p:txBody>
          <a:bodyPr wrap="square" lIns="0" tIns="0" rIns="0" bIns="0" rtlCol="0" anchor="ctr"/>
          <a:lstStyle/>
          <a:p>
            <a:pPr indent="0" marL="0">
              <a:buNone/>
            </a:pPr>
            <a:r>
              <a:rPr lang="en-US" sz="1280" dirty="0">
                <a:solidFill>
                  <a:srgbClr val="1F2937"/>
                </a:solidFill>
                <a:latin typeface="Calibri" pitchFamily="34" charset="0"/>
                <a:ea typeface="Calibri" pitchFamily="34" charset="-122"/>
                <a:cs typeface="Calibri" pitchFamily="34" charset="-120"/>
              </a:rPr>
              <a:t>Which method best uses the available unlabeled corpus?</a:t>
            </a:r>
            <a:endParaRPr lang="en-US" sz="1280" dirty="0"/>
          </a:p>
        </p:txBody>
      </p:sp>
      <p:sp>
        <p:nvSpPr>
          <p:cNvPr id="17" name="Shape 15"/>
          <p:cNvSpPr/>
          <p:nvPr/>
        </p:nvSpPr>
        <p:spPr>
          <a:xfrm>
            <a:off x="411480" y="3630168"/>
            <a:ext cx="8321040" cy="512064"/>
          </a:xfrm>
          <a:prstGeom prst="roundRect">
            <a:avLst>
              <a:gd name="adj" fmla="val 8929"/>
            </a:avLst>
          </a:prstGeom>
          <a:solidFill>
            <a:srgbClr val="F4F6F8"/>
          </a:solidFill>
          <a:ln w="12700">
            <a:solidFill>
              <a:srgbClr val="F4F6F8"/>
            </a:solidFill>
            <a:prstDash val="solid"/>
          </a:ln>
        </p:spPr>
      </p:sp>
      <p:sp>
        <p:nvSpPr>
          <p:cNvPr id="18" name="Text 16"/>
          <p:cNvSpPr txBox="1"/>
          <p:nvPr/>
        </p:nvSpPr>
        <p:spPr>
          <a:xfrm>
            <a:off x="548640" y="3630168"/>
            <a:ext cx="1188720" cy="512064"/>
          </a:xfrm>
          <a:prstGeom prst="rect">
            <a:avLst/>
          </a:prstGeom>
          <a:noFill/>
          <a:ln/>
        </p:spPr>
        <p:txBody>
          <a:bodyPr wrap="square" lIns="0" tIns="0" rIns="0" bIns="0" rtlCol="0" anchor="ctr"/>
          <a:lstStyle/>
          <a:p>
            <a:pPr indent="0" marL="0">
              <a:buNone/>
            </a:pPr>
            <a:r>
              <a:rPr lang="en-US" sz="1400" b="1" dirty="0">
                <a:solidFill>
                  <a:srgbClr val="1B9E77"/>
                </a:solidFill>
                <a:latin typeface="Calibri" pitchFamily="34" charset="0"/>
                <a:ea typeface="Calibri" pitchFamily="34" charset="-122"/>
                <a:cs typeface="Calibri" pitchFamily="34" charset="-120"/>
              </a:rPr>
              <a:t>RQ7</a:t>
            </a:r>
            <a:endParaRPr lang="en-US" sz="1400" dirty="0"/>
          </a:p>
        </p:txBody>
      </p:sp>
      <p:sp>
        <p:nvSpPr>
          <p:cNvPr id="19" name="Text 17"/>
          <p:cNvSpPr txBox="1"/>
          <p:nvPr/>
        </p:nvSpPr>
        <p:spPr>
          <a:xfrm>
            <a:off x="1828800" y="3630168"/>
            <a:ext cx="6766560" cy="512064"/>
          </a:xfrm>
          <a:prstGeom prst="rect">
            <a:avLst/>
          </a:prstGeom>
          <a:noFill/>
          <a:ln/>
        </p:spPr>
        <p:txBody>
          <a:bodyPr wrap="square" lIns="0" tIns="0" rIns="0" bIns="0" rtlCol="0" anchor="ctr"/>
          <a:lstStyle/>
          <a:p>
            <a:pPr indent="0" marL="0">
              <a:buNone/>
            </a:pPr>
            <a:r>
              <a:rPr lang="en-US" sz="1280" dirty="0">
                <a:solidFill>
                  <a:srgbClr val="1F2937"/>
                </a:solidFill>
                <a:latin typeface="Calibri" pitchFamily="34" charset="0"/>
                <a:ea typeface="Calibri" pitchFamily="34" charset="-122"/>
                <a:cs typeface="Calibri" pitchFamily="34" charset="-120"/>
              </a:rPr>
              <a:t>How do polarity strength and confidence relate to errors?</a:t>
            </a:r>
            <a:endParaRPr lang="en-US" sz="1280" dirty="0"/>
          </a:p>
        </p:txBody>
      </p:sp>
      <p:sp>
        <p:nvSpPr>
          <p:cNvPr id="20" name="Shape 18"/>
          <p:cNvSpPr/>
          <p:nvPr/>
        </p:nvSpPr>
        <p:spPr>
          <a:xfrm>
            <a:off x="411480" y="4251960"/>
            <a:ext cx="8321040" cy="512064"/>
          </a:xfrm>
          <a:prstGeom prst="roundRect">
            <a:avLst>
              <a:gd name="adj" fmla="val 8929"/>
            </a:avLst>
          </a:prstGeom>
          <a:solidFill>
            <a:srgbClr val="F4F6F8"/>
          </a:solidFill>
          <a:ln w="12700">
            <a:solidFill>
              <a:srgbClr val="F4F6F8"/>
            </a:solidFill>
            <a:prstDash val="solid"/>
          </a:ln>
        </p:spPr>
      </p:sp>
      <p:sp>
        <p:nvSpPr>
          <p:cNvPr id="21" name="Text 19"/>
          <p:cNvSpPr txBox="1"/>
          <p:nvPr/>
        </p:nvSpPr>
        <p:spPr>
          <a:xfrm>
            <a:off x="548640" y="4251960"/>
            <a:ext cx="1188720" cy="512064"/>
          </a:xfrm>
          <a:prstGeom prst="rect">
            <a:avLst/>
          </a:prstGeom>
          <a:noFill/>
          <a:ln/>
        </p:spPr>
        <p:txBody>
          <a:bodyPr wrap="square" lIns="0" tIns="0" rIns="0" bIns="0" rtlCol="0" anchor="ctr"/>
          <a:lstStyle/>
          <a:p>
            <a:pPr indent="0" marL="0">
              <a:buNone/>
            </a:pPr>
            <a:r>
              <a:rPr lang="en-US" sz="1400" b="1" dirty="0">
                <a:solidFill>
                  <a:srgbClr val="1B9E77"/>
                </a:solidFill>
                <a:latin typeface="Calibri" pitchFamily="34" charset="0"/>
                <a:ea typeface="Calibri" pitchFamily="34" charset="-122"/>
                <a:cs typeface="Calibri" pitchFamily="34" charset="-120"/>
              </a:rPr>
              <a:t>RQ8</a:t>
            </a:r>
            <a:endParaRPr lang="en-US" sz="1400" dirty="0"/>
          </a:p>
        </p:txBody>
      </p:sp>
      <p:sp>
        <p:nvSpPr>
          <p:cNvPr id="22" name="Text 20"/>
          <p:cNvSpPr txBox="1"/>
          <p:nvPr/>
        </p:nvSpPr>
        <p:spPr>
          <a:xfrm>
            <a:off x="1828800" y="4251960"/>
            <a:ext cx="6766560" cy="512064"/>
          </a:xfrm>
          <a:prstGeom prst="rect">
            <a:avLst/>
          </a:prstGeom>
          <a:noFill/>
          <a:ln/>
        </p:spPr>
        <p:txBody>
          <a:bodyPr wrap="square" lIns="0" tIns="0" rIns="0" bIns="0" rtlCol="0" anchor="ctr"/>
          <a:lstStyle/>
          <a:p>
            <a:pPr indent="0" marL="0">
              <a:buNone/>
            </a:pPr>
            <a:r>
              <a:rPr lang="en-US" sz="1280" dirty="0">
                <a:solidFill>
                  <a:srgbClr val="1F2937"/>
                </a:solidFill>
                <a:latin typeface="Calibri" pitchFamily="34" charset="0"/>
                <a:ea typeface="Calibri" pitchFamily="34" charset="-122"/>
                <a:cs typeface="Calibri" pitchFamily="34" charset="-120"/>
              </a:rPr>
              <a:t>How well does each model transfer across domains?</a:t>
            </a:r>
            <a:endParaRPr lang="en-US" sz="12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9E77"/>
          </a:solidFill>
          <a:ln w="12700">
            <a:solidFill>
              <a:srgbClr val="1B9E77"/>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500" b="1" dirty="0">
                <a:solidFill>
                  <a:srgbClr val="14213D"/>
                </a:solidFill>
                <a:latin typeface="Calibri" pitchFamily="34" charset="0"/>
                <a:ea typeface="Calibri" pitchFamily="34" charset="-122"/>
                <a:cs typeface="Calibri" pitchFamily="34" charset="-120"/>
              </a:rPr>
              <a:t>Approach: six model families</a:t>
            </a:r>
            <a:endParaRPr lang="en-US" sz="2500" dirty="0"/>
          </a:p>
        </p:txBody>
      </p:sp>
      <p:sp>
        <p:nvSpPr>
          <p:cNvPr id="4" name="Text 2"/>
          <p:cNvSpPr txBox="1"/>
          <p:nvPr/>
        </p:nvSpPr>
        <p:spPr>
          <a:xfrm>
            <a:off x="411480" y="758952"/>
            <a:ext cx="832104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Shared evaluation sets; model-specific features and training procedures</a:t>
            </a:r>
            <a:endParaRPr lang="en-US" sz="1250" dirty="0"/>
          </a:p>
        </p:txBody>
      </p:sp>
      <p:sp>
        <p:nvSpPr>
          <p:cNvPr id="5" name="Shape 3"/>
          <p:cNvSpPr/>
          <p:nvPr/>
        </p:nvSpPr>
        <p:spPr>
          <a:xfrm>
            <a:off x="411480" y="1234440"/>
            <a:ext cx="1298448" cy="960120"/>
          </a:xfrm>
          <a:prstGeom prst="roundRect">
            <a:avLst>
              <a:gd name="adj" fmla="val 7619"/>
            </a:avLst>
          </a:prstGeom>
          <a:solidFill>
            <a:srgbClr val="F4F6F8"/>
          </a:solidFill>
          <a:ln w="12700">
            <a:solidFill>
              <a:srgbClr val="F4F6F8"/>
            </a:solidFill>
            <a:prstDash val="solid"/>
          </a:ln>
        </p:spPr>
      </p:sp>
      <p:sp>
        <p:nvSpPr>
          <p:cNvPr id="6" name="Text 4"/>
          <p:cNvSpPr txBox="1"/>
          <p:nvPr/>
        </p:nvSpPr>
        <p:spPr>
          <a:xfrm>
            <a:off x="411480" y="1234440"/>
            <a:ext cx="1298448" cy="960120"/>
          </a:xfrm>
          <a:prstGeom prst="rect">
            <a:avLst/>
          </a:prstGeom>
          <a:noFill/>
          <a:ln/>
        </p:spPr>
        <p:txBody>
          <a:bodyPr wrap="square" lIns="50800" tIns="50800" rIns="50800" bIns="5080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VADER lexicon</a:t>
            </a:r>
            <a:endParaRPr lang="en-US" sz="1150" dirty="0"/>
          </a:p>
          <a:p>
            <a:pPr algn="ctr" indent="0" marL="0">
              <a:buNone/>
            </a:pPr>
            <a:r>
              <a:rPr lang="en-US" sz="1150" dirty="0">
                <a:solidFill>
                  <a:srgbClr val="1F2937"/>
                </a:solidFill>
                <a:latin typeface="Calibri" pitchFamily="34" charset="0"/>
                <a:ea typeface="Calibri" pitchFamily="34" charset="-122"/>
                <a:cs typeface="Calibri" pitchFamily="34" charset="-120"/>
              </a:rPr>
              <a:t>0 task labels</a:t>
            </a:r>
            <a:endParaRPr lang="en-US" sz="1150" dirty="0"/>
          </a:p>
        </p:txBody>
      </p:sp>
      <p:sp>
        <p:nvSpPr>
          <p:cNvPr id="7" name="Shape 5"/>
          <p:cNvSpPr/>
          <p:nvPr/>
        </p:nvSpPr>
        <p:spPr>
          <a:xfrm>
            <a:off x="1824228" y="1234440"/>
            <a:ext cx="1298448" cy="960120"/>
          </a:xfrm>
          <a:prstGeom prst="roundRect">
            <a:avLst>
              <a:gd name="adj" fmla="val 7619"/>
            </a:avLst>
          </a:prstGeom>
          <a:solidFill>
            <a:srgbClr val="F4F6F8"/>
          </a:solidFill>
          <a:ln w="12700">
            <a:solidFill>
              <a:srgbClr val="F4F6F8"/>
            </a:solidFill>
            <a:prstDash val="solid"/>
          </a:ln>
        </p:spPr>
      </p:sp>
      <p:sp>
        <p:nvSpPr>
          <p:cNvPr id="8" name="Text 6"/>
          <p:cNvSpPr txBox="1"/>
          <p:nvPr/>
        </p:nvSpPr>
        <p:spPr>
          <a:xfrm>
            <a:off x="1824228" y="1234440"/>
            <a:ext cx="1298448" cy="960120"/>
          </a:xfrm>
          <a:prstGeom prst="rect">
            <a:avLst/>
          </a:prstGeom>
          <a:noFill/>
          <a:ln/>
        </p:spPr>
        <p:txBody>
          <a:bodyPr wrap="square" lIns="50800" tIns="50800" rIns="50800" bIns="5080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TF-IDF word/char</a:t>
            </a:r>
            <a:endParaRPr lang="en-US" sz="1150" dirty="0"/>
          </a:p>
          <a:p>
            <a:pPr algn="ctr" indent="0" marL="0">
              <a:buNone/>
            </a:pPr>
            <a:r>
              <a:rPr lang="en-US" sz="1150" dirty="0">
                <a:solidFill>
                  <a:srgbClr val="1F2937"/>
                </a:solidFill>
                <a:latin typeface="Calibri" pitchFamily="34" charset="0"/>
                <a:ea typeface="Calibri" pitchFamily="34" charset="-122"/>
                <a:cs typeface="Calibri" pitchFamily="34" charset="-120"/>
              </a:rPr>
              <a:t>+ LogReg/NB/SVM</a:t>
            </a:r>
            <a:endParaRPr lang="en-US" sz="1150" dirty="0"/>
          </a:p>
        </p:txBody>
      </p:sp>
      <p:sp>
        <p:nvSpPr>
          <p:cNvPr id="9" name="Shape 7"/>
          <p:cNvSpPr/>
          <p:nvPr/>
        </p:nvSpPr>
        <p:spPr>
          <a:xfrm>
            <a:off x="3236976" y="1234440"/>
            <a:ext cx="1298448" cy="960120"/>
          </a:xfrm>
          <a:prstGeom prst="roundRect">
            <a:avLst>
              <a:gd name="adj" fmla="val 7619"/>
            </a:avLst>
          </a:prstGeom>
          <a:solidFill>
            <a:srgbClr val="F4F6F8"/>
          </a:solidFill>
          <a:ln w="12700">
            <a:solidFill>
              <a:srgbClr val="F4F6F8"/>
            </a:solidFill>
            <a:prstDash val="solid"/>
          </a:ln>
        </p:spPr>
      </p:sp>
      <p:sp>
        <p:nvSpPr>
          <p:cNvPr id="10" name="Text 8"/>
          <p:cNvSpPr txBox="1"/>
          <p:nvPr/>
        </p:nvSpPr>
        <p:spPr>
          <a:xfrm>
            <a:off x="3236976" y="1234440"/>
            <a:ext cx="1298448" cy="960120"/>
          </a:xfrm>
          <a:prstGeom prst="rect">
            <a:avLst/>
          </a:prstGeom>
          <a:noFill/>
          <a:ln/>
        </p:spPr>
        <p:txBody>
          <a:bodyPr wrap="square" lIns="50800" tIns="50800" rIns="50800" bIns="5080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word2vec / fastText</a:t>
            </a:r>
            <a:endParaRPr lang="en-US" sz="1150" dirty="0"/>
          </a:p>
          <a:p>
            <a:pPr algn="ctr" indent="0" marL="0">
              <a:buNone/>
            </a:pPr>
            <a:r>
              <a:rPr lang="en-US" sz="1150" dirty="0">
                <a:solidFill>
                  <a:srgbClr val="1F2937"/>
                </a:solidFill>
                <a:latin typeface="Calibri" pitchFamily="34" charset="0"/>
                <a:ea typeface="Calibri" pitchFamily="34" charset="-122"/>
                <a:cs typeface="Calibri" pitchFamily="34" charset="-120"/>
              </a:rPr>
              <a:t>same 1.2M words</a:t>
            </a:r>
            <a:endParaRPr lang="en-US" sz="1150" dirty="0"/>
          </a:p>
        </p:txBody>
      </p:sp>
      <p:sp>
        <p:nvSpPr>
          <p:cNvPr id="11" name="Shape 9"/>
          <p:cNvSpPr/>
          <p:nvPr/>
        </p:nvSpPr>
        <p:spPr>
          <a:xfrm>
            <a:off x="4649724" y="1234440"/>
            <a:ext cx="1298448" cy="960120"/>
          </a:xfrm>
          <a:prstGeom prst="roundRect">
            <a:avLst>
              <a:gd name="adj" fmla="val 7619"/>
            </a:avLst>
          </a:prstGeom>
          <a:solidFill>
            <a:srgbClr val="E3EEF8"/>
          </a:solidFill>
          <a:ln w="12700">
            <a:solidFill>
              <a:srgbClr val="E3EEF8"/>
            </a:solidFill>
            <a:prstDash val="solid"/>
          </a:ln>
        </p:spPr>
      </p:sp>
      <p:sp>
        <p:nvSpPr>
          <p:cNvPr id="12" name="Text 10"/>
          <p:cNvSpPr txBox="1"/>
          <p:nvPr/>
        </p:nvSpPr>
        <p:spPr>
          <a:xfrm>
            <a:off x="4649724" y="1234440"/>
            <a:ext cx="1298448" cy="960120"/>
          </a:xfrm>
          <a:prstGeom prst="rect">
            <a:avLst/>
          </a:prstGeom>
          <a:noFill/>
          <a:ln/>
        </p:spPr>
        <p:txBody>
          <a:bodyPr wrap="square" lIns="50800" tIns="50800" rIns="50800" bIns="5080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Tiny-BERT</a:t>
            </a:r>
            <a:endParaRPr lang="en-US" sz="1150" dirty="0"/>
          </a:p>
          <a:p>
            <a:pPr algn="ctr" indent="0" marL="0">
              <a:buNone/>
            </a:pPr>
            <a:r>
              <a:rPr lang="en-US" sz="1150" dirty="0">
                <a:solidFill>
                  <a:srgbClr val="1F2937"/>
                </a:solidFill>
                <a:latin typeface="Calibri" pitchFamily="34" charset="0"/>
                <a:ea typeface="Calibri" pitchFamily="34" charset="-122"/>
                <a:cs typeface="Calibri" pitchFamily="34" charset="-120"/>
              </a:rPr>
              <a:t>random init</a:t>
            </a:r>
            <a:endParaRPr lang="en-US" sz="1150" dirty="0"/>
          </a:p>
        </p:txBody>
      </p:sp>
      <p:sp>
        <p:nvSpPr>
          <p:cNvPr id="13" name="Shape 11"/>
          <p:cNvSpPr/>
          <p:nvPr/>
        </p:nvSpPr>
        <p:spPr>
          <a:xfrm>
            <a:off x="6062472" y="1234440"/>
            <a:ext cx="1298448" cy="960120"/>
          </a:xfrm>
          <a:prstGeom prst="roundRect">
            <a:avLst>
              <a:gd name="adj" fmla="val 7619"/>
            </a:avLst>
          </a:prstGeom>
          <a:solidFill>
            <a:srgbClr val="E3EEF8"/>
          </a:solidFill>
          <a:ln w="12700">
            <a:solidFill>
              <a:srgbClr val="E3EEF8"/>
            </a:solidFill>
            <a:prstDash val="solid"/>
          </a:ln>
        </p:spPr>
      </p:sp>
      <p:sp>
        <p:nvSpPr>
          <p:cNvPr id="14" name="Text 12"/>
          <p:cNvSpPr txBox="1"/>
          <p:nvPr/>
        </p:nvSpPr>
        <p:spPr>
          <a:xfrm>
            <a:off x="6062472" y="1234440"/>
            <a:ext cx="1298448" cy="960120"/>
          </a:xfrm>
          <a:prstGeom prst="rect">
            <a:avLst/>
          </a:prstGeom>
          <a:noFill/>
          <a:ln/>
        </p:spPr>
        <p:txBody>
          <a:bodyPr wrap="square" lIns="50800" tIns="50800" rIns="50800" bIns="5080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Tiny-BERT</a:t>
            </a:r>
            <a:endParaRPr lang="en-US" sz="1150" dirty="0"/>
          </a:p>
          <a:p>
            <a:pPr algn="ctr" indent="0" marL="0">
              <a:buNone/>
            </a:pPr>
            <a:r>
              <a:rPr lang="en-US" sz="1150" dirty="0">
                <a:solidFill>
                  <a:srgbClr val="1F2937"/>
                </a:solidFill>
                <a:latin typeface="Calibri" pitchFamily="34" charset="0"/>
                <a:ea typeface="Calibri" pitchFamily="34" charset="-122"/>
                <a:cs typeface="Calibri" pitchFamily="34" charset="-120"/>
              </a:rPr>
              <a:t>+MLM pre-train</a:t>
            </a:r>
            <a:endParaRPr lang="en-US" sz="1150" dirty="0"/>
          </a:p>
        </p:txBody>
      </p:sp>
      <p:sp>
        <p:nvSpPr>
          <p:cNvPr id="15" name="Shape 13"/>
          <p:cNvSpPr/>
          <p:nvPr/>
        </p:nvSpPr>
        <p:spPr>
          <a:xfrm>
            <a:off x="7475220" y="1234440"/>
            <a:ext cx="1298448" cy="960120"/>
          </a:xfrm>
          <a:prstGeom prst="roundRect">
            <a:avLst>
              <a:gd name="adj" fmla="val 7619"/>
            </a:avLst>
          </a:prstGeom>
          <a:solidFill>
            <a:srgbClr val="E3EEF8"/>
          </a:solidFill>
          <a:ln w="12700">
            <a:solidFill>
              <a:srgbClr val="E3EEF8"/>
            </a:solidFill>
            <a:prstDash val="solid"/>
          </a:ln>
        </p:spPr>
      </p:sp>
      <p:sp>
        <p:nvSpPr>
          <p:cNvPr id="16" name="Text 14"/>
          <p:cNvSpPr txBox="1"/>
          <p:nvPr/>
        </p:nvSpPr>
        <p:spPr>
          <a:xfrm>
            <a:off x="7475220" y="1234440"/>
            <a:ext cx="1298448" cy="960120"/>
          </a:xfrm>
          <a:prstGeom prst="rect">
            <a:avLst/>
          </a:prstGeom>
          <a:noFill/>
          <a:ln/>
        </p:spPr>
        <p:txBody>
          <a:bodyPr wrap="square" lIns="50800" tIns="50800" rIns="50800" bIns="5080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BERT-Tiny /</a:t>
            </a:r>
            <a:endParaRPr lang="en-US" sz="1150" dirty="0"/>
          </a:p>
          <a:p>
            <a:pPr algn="ctr" indent="0" marL="0">
              <a:buNone/>
            </a:pPr>
            <a:r>
              <a:rPr lang="en-US" sz="1150" dirty="0">
                <a:solidFill>
                  <a:srgbClr val="1F2937"/>
                </a:solidFill>
                <a:latin typeface="Calibri" pitchFamily="34" charset="0"/>
                <a:ea typeface="Calibri" pitchFamily="34" charset="-122"/>
                <a:cs typeface="Calibri" pitchFamily="34" charset="-120"/>
              </a:rPr>
              <a:t>DistilBERT</a:t>
            </a:r>
            <a:endParaRPr lang="en-US" sz="1150" dirty="0"/>
          </a:p>
          <a:p>
            <a:pPr algn="ctr" indent="0" marL="0">
              <a:buNone/>
            </a:pPr>
            <a:r>
              <a:rPr lang="en-US" sz="1150" dirty="0">
                <a:solidFill>
                  <a:srgbClr val="1F2937"/>
                </a:solidFill>
                <a:latin typeface="Calibri" pitchFamily="34" charset="0"/>
                <a:ea typeface="Calibri" pitchFamily="34" charset="-122"/>
                <a:cs typeface="Calibri" pitchFamily="34" charset="-120"/>
              </a:rPr>
              <a:t>public</a:t>
            </a:r>
            <a:endParaRPr lang="en-US" sz="1150" dirty="0"/>
          </a:p>
        </p:txBody>
      </p:sp>
      <p:sp>
        <p:nvSpPr>
          <p:cNvPr id="17" name="Text 15"/>
          <p:cNvSpPr txBox="1"/>
          <p:nvPr/>
        </p:nvSpPr>
        <p:spPr>
          <a:xfrm>
            <a:off x="411480" y="2423160"/>
            <a:ext cx="8321040" cy="91440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Evaluated on: clean SST-2, typos (10/30%), word-drop (20/40%), out-of-domain IMDb, and - new - ambiguity strata from fine-grained SST-5 labels (strong vs weak polarity), confidence calibration, and linguistic markers (contrast, negation).</a:t>
            </a:r>
            <a:endParaRPr lang="en-US" sz="1350" dirty="0"/>
          </a:p>
        </p:txBody>
      </p:sp>
      <p:sp>
        <p:nvSpPr>
          <p:cNvPr id="18" name="Text 16"/>
          <p:cNvSpPr txBox="1"/>
          <p:nvPr/>
        </p:nvSpPr>
        <p:spPr>
          <a:xfrm>
            <a:off x="411480" y="3520440"/>
            <a:ext cx="8321040" cy="1097280"/>
          </a:xfrm>
          <a:prstGeom prst="rect">
            <a:avLst/>
          </a:prstGeom>
          <a:noFill/>
          <a:ln/>
        </p:spPr>
        <p:txBody>
          <a:bodyPr wrap="square" lIns="0" tIns="0" rIns="0" bIns="0" rtlCol="0" anchor="t"/>
          <a:lstStyle/>
          <a:p>
            <a:pPr indent="0" marL="0">
              <a:buNone/>
            </a:pPr>
            <a:r>
              <a:rPr lang="en-US" sz="1300" i="1" dirty="0">
                <a:solidFill>
                  <a:srgbClr val="5B6472"/>
                </a:solidFill>
                <a:latin typeface="Calibri" pitchFamily="34" charset="0"/>
                <a:ea typeface="Calibri" pitchFamily="34" charset="-122"/>
                <a:cs typeface="Calibri" pitchFamily="34" charset="-120"/>
              </a:rPr>
              <a:t>Tiny-BERT: 2 layers, hidden 128, 1,173,248 params. MLM pre-training: 5,000 steps, 13 min, on 1.2M unlabeled IMDb words. Sparse-model regularisation is tuned on dev; the public-checkpoint learning rates are fixed, and embedding-family settings are not exhaustively tuned.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9E77"/>
          </a:solidFill>
          <a:ln w="12700">
            <a:solidFill>
              <a:srgbClr val="1B9E77"/>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500" b="1" dirty="0">
                <a:solidFill>
                  <a:srgbClr val="14213D"/>
                </a:solidFill>
                <a:latin typeface="Calibri" pitchFamily="34" charset="0"/>
                <a:ea typeface="Calibri" pitchFamily="34" charset="-122"/>
                <a:cs typeface="Calibri" pitchFamily="34" charset="-120"/>
              </a:rPr>
              <a:t>Pre-training starts with a long plateau</a:t>
            </a:r>
            <a:endParaRPr lang="en-US" sz="2500" dirty="0"/>
          </a:p>
        </p:txBody>
      </p:sp>
      <p:sp>
        <p:nvSpPr>
          <p:cNvPr id="4" name="Text 2"/>
          <p:cNvSpPr txBox="1"/>
          <p:nvPr/>
        </p:nvSpPr>
        <p:spPr>
          <a:xfrm>
            <a:off x="411480" y="758952"/>
            <a:ext cx="832104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Held-out masked-LM loss and accuracy over 5,000 steps</a:t>
            </a:r>
            <a:endParaRPr lang="en-US" sz="1250" dirty="0"/>
          </a:p>
        </p:txBody>
      </p:sp>
      <p:pic>
        <p:nvPicPr>
          <p:cNvPr id="5" name="Image 0" descr="/tmp/nlp_review/code/tiny-nlp-research/results/figures/fig_pretrain.png">    </p:cNvPr>
          <p:cNvPicPr>
            <a:picLocks noChangeAspect="1"/>
          </p:cNvPicPr>
          <p:nvPr/>
        </p:nvPicPr>
        <p:blipFill>
          <a:blip r:embed="rId1"/>
          <a:srcRect l="0" r="0" t="0" b="0"/>
          <a:stretch/>
        </p:blipFill>
        <p:spPr>
          <a:xfrm>
            <a:off x="411480" y="1188720"/>
            <a:ext cx="5212080" cy="1920240"/>
          </a:xfrm>
          <a:prstGeom prst="rect">
            <a:avLst/>
          </a:prstGeom>
        </p:spPr>
      </p:pic>
      <p:sp>
        <p:nvSpPr>
          <p:cNvPr id="6" name="Shape 3"/>
          <p:cNvSpPr/>
          <p:nvPr/>
        </p:nvSpPr>
        <p:spPr>
          <a:xfrm>
            <a:off x="5806440" y="1280160"/>
            <a:ext cx="2926080" cy="1188720"/>
          </a:xfrm>
          <a:prstGeom prst="roundRect">
            <a:avLst>
              <a:gd name="adj" fmla="val 4615"/>
            </a:avLst>
          </a:prstGeom>
          <a:solidFill>
            <a:srgbClr val="F4F6F8"/>
          </a:solidFill>
          <a:ln w="12700">
            <a:solidFill>
              <a:srgbClr val="F4F6F8"/>
            </a:solidFill>
            <a:prstDash val="solid"/>
          </a:ln>
        </p:spPr>
      </p:sp>
      <p:sp>
        <p:nvSpPr>
          <p:cNvPr id="7" name="Text 4"/>
          <p:cNvSpPr txBox="1"/>
          <p:nvPr/>
        </p:nvSpPr>
        <p:spPr>
          <a:xfrm>
            <a:off x="5943600" y="1353312"/>
            <a:ext cx="2651760" cy="621792"/>
          </a:xfrm>
          <a:prstGeom prst="rect">
            <a:avLst/>
          </a:prstGeom>
          <a:noFill/>
          <a:ln/>
        </p:spPr>
        <p:txBody>
          <a:bodyPr wrap="square" lIns="0" tIns="0" rIns="0" bIns="0" rtlCol="0" anchor="ctr"/>
          <a:lstStyle/>
          <a:p>
            <a:pPr indent="0" marL="0">
              <a:buNone/>
            </a:pPr>
            <a:r>
              <a:rPr lang="en-US" sz="2700" b="1" dirty="0">
                <a:solidFill>
                  <a:srgbClr val="1B9E77"/>
                </a:solidFill>
                <a:latin typeface="Calibri" pitchFamily="34" charset="0"/>
                <a:ea typeface="Calibri" pitchFamily="34" charset="-122"/>
                <a:cs typeface="Calibri" pitchFamily="34" charset="-120"/>
              </a:rPr>
              <a:t>ppl 77</a:t>
            </a:r>
            <a:endParaRPr lang="en-US" sz="2700" dirty="0"/>
          </a:p>
        </p:txBody>
      </p:sp>
      <p:sp>
        <p:nvSpPr>
          <p:cNvPr id="8" name="Text 5"/>
          <p:cNvSpPr txBox="1"/>
          <p:nvPr/>
        </p:nvSpPr>
        <p:spPr>
          <a:xfrm>
            <a:off x="5943600" y="1975104"/>
            <a:ext cx="2651760" cy="45720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final held-out perplexity (from ~3,660)</a:t>
            </a:r>
            <a:endParaRPr lang="en-US" sz="1100" dirty="0"/>
          </a:p>
        </p:txBody>
      </p:sp>
      <p:sp>
        <p:nvSpPr>
          <p:cNvPr id="9" name="Shape 6"/>
          <p:cNvSpPr/>
          <p:nvPr/>
        </p:nvSpPr>
        <p:spPr>
          <a:xfrm>
            <a:off x="5806440" y="2606040"/>
            <a:ext cx="2926080" cy="1188720"/>
          </a:xfrm>
          <a:prstGeom prst="roundRect">
            <a:avLst>
              <a:gd name="adj" fmla="val 4615"/>
            </a:avLst>
          </a:prstGeom>
          <a:solidFill>
            <a:srgbClr val="F4F6F8"/>
          </a:solidFill>
          <a:ln w="12700">
            <a:solidFill>
              <a:srgbClr val="F4F6F8"/>
            </a:solidFill>
            <a:prstDash val="solid"/>
          </a:ln>
        </p:spPr>
      </p:sp>
      <p:sp>
        <p:nvSpPr>
          <p:cNvPr id="10" name="Text 7"/>
          <p:cNvSpPr txBox="1"/>
          <p:nvPr/>
        </p:nvSpPr>
        <p:spPr>
          <a:xfrm>
            <a:off x="5943600" y="2679192"/>
            <a:ext cx="2651760" cy="621792"/>
          </a:xfrm>
          <a:prstGeom prst="rect">
            <a:avLst/>
          </a:prstGeom>
          <a:noFill/>
          <a:ln/>
        </p:spPr>
        <p:txBody>
          <a:bodyPr wrap="square" lIns="0" tIns="0" rIns="0" bIns="0" rtlCol="0" anchor="ctr"/>
          <a:lstStyle/>
          <a:p>
            <a:pPr indent="0" marL="0">
              <a:buNone/>
            </a:pPr>
            <a:r>
              <a:rPr lang="en-US" sz="2700" b="1" dirty="0">
                <a:solidFill>
                  <a:srgbClr val="D95F02"/>
                </a:solidFill>
                <a:latin typeface="Calibri" pitchFamily="34" charset="0"/>
                <a:ea typeface="Calibri" pitchFamily="34" charset="-122"/>
                <a:cs typeface="Calibri" pitchFamily="34" charset="-120"/>
              </a:rPr>
              <a:t>29%</a:t>
            </a:r>
            <a:endParaRPr lang="en-US" sz="2700" dirty="0"/>
          </a:p>
        </p:txBody>
      </p:sp>
      <p:sp>
        <p:nvSpPr>
          <p:cNvPr id="11" name="Text 8"/>
          <p:cNvSpPr txBox="1"/>
          <p:nvPr/>
        </p:nvSpPr>
        <p:spPr>
          <a:xfrm>
            <a:off x="5943600" y="3300984"/>
            <a:ext cx="2651760" cy="45720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masked-token accuracy</a:t>
            </a:r>
            <a:endParaRPr lang="en-US" sz="1100" dirty="0"/>
          </a:p>
        </p:txBody>
      </p:sp>
      <p:sp>
        <p:nvSpPr>
          <p:cNvPr id="12" name="Text 9"/>
          <p:cNvSpPr txBox="1"/>
          <p:nvPr/>
        </p:nvSpPr>
        <p:spPr>
          <a:xfrm>
            <a:off x="411480" y="3246120"/>
            <a:ext cx="5486400" cy="12801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F2937"/>
                </a:solidFill>
                <a:latin typeface="Calibri" pitchFamily="34" charset="0"/>
                <a:ea typeface="Calibri" pitchFamily="34" charset="-122"/>
                <a:cs typeface="Calibri" pitchFamily="34" charset="-120"/>
              </a:rPr>
              <a:t>First ~1,500 steps: loss stuck near the unigram entropy</a:t>
            </a:r>
            <a:endParaRPr lang="en-US" sz="1300" dirty="0"/>
          </a:p>
          <a:p>
            <a:pPr marL="342900" indent="-342900">
              <a:spcAft>
                <a:spcPts val="700"/>
              </a:spcAft>
              <a:buSzPct val="100000"/>
              <a:buChar char="•"/>
            </a:pPr>
            <a:r>
              <a:rPr lang="en-US" sz="1300" dirty="0">
                <a:solidFill>
                  <a:srgbClr val="1F2937"/>
                </a:solidFill>
                <a:latin typeface="Calibri" pitchFamily="34" charset="0"/>
                <a:ea typeface="Calibri" pitchFamily="34" charset="-122"/>
                <a:cs typeface="Calibri" pitchFamily="34" charset="-120"/>
              </a:rPr>
              <a:t>Only then does attention start to use context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9E77"/>
          </a:solidFill>
          <a:ln w="12700">
            <a:solidFill>
              <a:srgbClr val="1B9E77"/>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500" b="1" dirty="0">
                <a:solidFill>
                  <a:srgbClr val="14213D"/>
                </a:solidFill>
                <a:latin typeface="Calibri" pitchFamily="34" charset="0"/>
                <a:ea typeface="Calibri" pitchFamily="34" charset="-122"/>
                <a:cs typeface="Calibri" pitchFamily="34" charset="-120"/>
              </a:rPr>
              <a:t>Pre-training did not help; TF-IDF wins</a:t>
            </a:r>
            <a:endParaRPr lang="en-US" sz="2500" dirty="0"/>
          </a:p>
        </p:txBody>
      </p:sp>
      <p:sp>
        <p:nvSpPr>
          <p:cNvPr id="4" name="Text 2"/>
          <p:cNvSpPr txBox="1"/>
          <p:nvPr/>
        </p:nvSpPr>
        <p:spPr>
          <a:xfrm>
            <a:off x="411480" y="758952"/>
            <a:ext cx="832104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SST-2 test accuracy (%), mean of 3 seeds</a:t>
            </a:r>
            <a:endParaRPr lang="en-US" sz="1250" dirty="0"/>
          </a:p>
        </p:txBody>
      </p:sp>
      <p:graphicFrame>
        <p:nvGraphicFramePr>
          <p:cNvPr id="5" name="Chart 0" descr=""/>
          <p:cNvGraphicFramePr/>
          <p:nvPr/>
        </p:nvGraphicFramePr>
        <p:xfrm>
          <a:off x="320040" y="1188720"/>
          <a:ext cx="5394960" cy="32918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897880" y="1325880"/>
            <a:ext cx="2834640" cy="320040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F2937"/>
                </a:solidFill>
                <a:latin typeface="Calibri" pitchFamily="34" charset="0"/>
                <a:ea typeface="Calibri" pitchFamily="34" charset="-122"/>
                <a:cs typeface="Calibri" pitchFamily="34" charset="-120"/>
              </a:rPr>
              <a:t>MLM vs random init: -0.3 to -4.5 pts at every budget (CIs exclude 0 at n=300,1k,3k)</a:t>
            </a:r>
            <a:endParaRPr lang="en-US" sz="1300" dirty="0"/>
          </a:p>
          <a:p>
            <a:pPr marL="342900" indent="-342900">
              <a:spcAft>
                <a:spcPts val="700"/>
              </a:spcAft>
              <a:buSzPct val="100000"/>
              <a:buChar char="•"/>
            </a:pPr>
            <a:r>
              <a:rPr lang="en-US" sz="1300" dirty="0">
                <a:solidFill>
                  <a:srgbClr val="1F2937"/>
                </a:solidFill>
                <a:latin typeface="Calibri" pitchFamily="34" charset="0"/>
                <a:ea typeface="Calibri" pitchFamily="34" charset="-122"/>
                <a:cs typeface="Calibri" pitchFamily="34" charset="-120"/>
              </a:rPr>
              <a:t>TF-IDF beats the pre-trained model by 3.9-4.8 pts from n=300 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9E77"/>
          </a:solidFill>
          <a:ln w="12700">
            <a:solidFill>
              <a:srgbClr val="1B9E77"/>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500" b="1" dirty="0">
                <a:solidFill>
                  <a:srgbClr val="14213D"/>
                </a:solidFill>
                <a:latin typeface="Calibri" pitchFamily="34" charset="0"/>
                <a:ea typeface="Calibri" pitchFamily="34" charset="-122"/>
                <a:cs typeface="Calibri" pitchFamily="34" charset="-120"/>
              </a:rPr>
              <a:t>RQ6: the best bet depends on the label budget</a:t>
            </a:r>
            <a:endParaRPr lang="en-US" sz="2500" dirty="0"/>
          </a:p>
        </p:txBody>
      </p:sp>
      <p:sp>
        <p:nvSpPr>
          <p:cNvPr id="4" name="Text 2"/>
          <p:cNvSpPr txBox="1"/>
          <p:nvPr/>
        </p:nvSpPr>
        <p:spPr>
          <a:xfrm>
            <a:off x="411480" y="758952"/>
            <a:ext cx="832104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SST-2 accuracy by model family (mean of 3 seeds)</a:t>
            </a:r>
            <a:endParaRPr lang="en-US" sz="1250" dirty="0"/>
          </a:p>
        </p:txBody>
      </p:sp>
      <p:pic>
        <p:nvPicPr>
          <p:cNvPr id="5" name="Image 0" descr="/tmp/nlp_review/code/tiny-nlp-research/results/figures/fig_families.png">    </p:cNvPr>
          <p:cNvPicPr>
            <a:picLocks noChangeAspect="1"/>
          </p:cNvPicPr>
          <p:nvPr/>
        </p:nvPicPr>
        <p:blipFill>
          <a:blip r:embed="rId1"/>
          <a:srcRect l="0" r="0" t="0" b="0"/>
          <a:stretch/>
        </p:blipFill>
        <p:spPr>
          <a:xfrm>
            <a:off x="365760" y="1170432"/>
            <a:ext cx="8412480" cy="3246120"/>
          </a:xfrm>
          <a:prstGeom prst="rect">
            <a:avLst/>
          </a:prstGeom>
        </p:spPr>
      </p:pic>
      <p:sp>
        <p:nvSpPr>
          <p:cNvPr id="6" name="Text 3"/>
          <p:cNvSpPr txBox="1"/>
          <p:nvPr/>
        </p:nvSpPr>
        <p:spPr>
          <a:xfrm>
            <a:off x="411480" y="4480560"/>
            <a:ext cx="8321040" cy="6400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fastText (same 1.2M words) is the best TRAINABLE model at 100-300 labels; it beats MLM at n=1000 (70.2 vs 65.7), then plateaus at 71.2%</a:t>
            </a:r>
            <a:endParaRPr lang="en-US" sz="1150" dirty="0"/>
          </a:p>
          <a:p>
            <a:pPr marL="342900" indent="-342900">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VADER (0 task labels): 69.4% - worth ~840 TF-IDF labels</a:t>
            </a:r>
            <a:endParaRPr lang="en-US" sz="1150" dirty="0"/>
          </a:p>
          <a:p>
            <a:pPr marL="342900" indent="-342900">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Character n-grams: best typo robustness (78.7% at 30% typos)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9E77"/>
          </a:solidFill>
          <a:ln w="12700">
            <a:solidFill>
              <a:srgbClr val="1B9E77"/>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500" b="1" dirty="0">
                <a:solidFill>
                  <a:srgbClr val="14213D"/>
                </a:solidFill>
                <a:latin typeface="Calibri" pitchFamily="34" charset="0"/>
                <a:ea typeface="Calibri" pitchFamily="34" charset="-122"/>
                <a:cs typeface="Calibri" pitchFamily="34" charset="-120"/>
              </a:rPr>
              <a:t>A currency for comparison: label-equivalence</a:t>
            </a:r>
            <a:endParaRPr lang="en-US" sz="2500" dirty="0"/>
          </a:p>
        </p:txBody>
      </p:sp>
      <p:sp>
        <p:nvSpPr>
          <p:cNvPr id="4" name="Text 2"/>
          <p:cNvSpPr txBox="1"/>
          <p:nvPr/>
        </p:nvSpPr>
        <p:spPr>
          <a:xfrm>
            <a:off x="411480" y="758952"/>
            <a:ext cx="832104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How many TF-IDF labels is each model worth? (interpolated on the TF-IDF curve)</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1234440"/>
          <a:ext cx="8321040" cy="914400"/>
        </p:xfrm>
        <a:graphic>
          <a:graphicData uri="http://schemas.openxmlformats.org/drawingml/2006/table">
            <a:tbl>
              <a:tblPr/>
              <a:tblGrid>
                <a:gridCol w="3749040"/>
                <a:gridCol w="2286000"/>
                <a:gridCol w="2286000"/>
              </a:tblGrid>
              <a:tr h="36576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 = 1,000</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 = 6,920</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4213D"/>
                    </a:solidFill>
                  </a:tcPr>
                </a:tc>
              </a:tr>
              <a:tr h="365760">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VADER (0 labels)</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~840</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r>
              <a:tr h="365760">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fastText (same words)</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~960</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~1,120</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365760">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Tiny-BERT +MLM (ours)</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~450</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~3,000</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r>
              <a:tr h="365760">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BERT-Tiny (public)</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~2,040</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&gt;6,920</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365760">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DistilBERT (public)</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&gt;6,920</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&gt;6,920</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r>
            </a:tbl>
          </a:graphicData>
        </a:graphic>
      </p:graphicFrame>
      <p:sp>
        <p:nvSpPr>
          <p:cNvPr id="6" name="Shape 3"/>
          <p:cNvSpPr/>
          <p:nvPr/>
        </p:nvSpPr>
        <p:spPr>
          <a:xfrm>
            <a:off x="411480" y="3794760"/>
            <a:ext cx="4023360" cy="1188720"/>
          </a:xfrm>
          <a:prstGeom prst="roundRect">
            <a:avLst>
              <a:gd name="adj" fmla="val 4615"/>
            </a:avLst>
          </a:prstGeom>
          <a:solidFill>
            <a:srgbClr val="F4F6F8"/>
          </a:solidFill>
          <a:ln w="12700">
            <a:solidFill>
              <a:srgbClr val="F4F6F8"/>
            </a:solidFill>
            <a:prstDash val="solid"/>
          </a:ln>
        </p:spPr>
      </p:sp>
      <p:sp>
        <p:nvSpPr>
          <p:cNvPr id="7" name="Text 4"/>
          <p:cNvSpPr txBox="1"/>
          <p:nvPr/>
        </p:nvSpPr>
        <p:spPr>
          <a:xfrm>
            <a:off x="548640" y="3867912"/>
            <a:ext cx="3749040" cy="621792"/>
          </a:xfrm>
          <a:prstGeom prst="rect">
            <a:avLst/>
          </a:prstGeom>
          <a:noFill/>
          <a:ln/>
        </p:spPr>
        <p:txBody>
          <a:bodyPr wrap="square" lIns="0" tIns="0" rIns="0" bIns="0" rtlCol="0" anchor="ctr"/>
          <a:lstStyle/>
          <a:p>
            <a:pPr indent="0" marL="0">
              <a:buNone/>
            </a:pPr>
            <a:r>
              <a:rPr lang="en-US" sz="2700" b="1" dirty="0">
                <a:solidFill>
                  <a:srgbClr val="D95F02"/>
                </a:solidFill>
                <a:latin typeface="Calibri" pitchFamily="34" charset="0"/>
                <a:ea typeface="Calibri" pitchFamily="34" charset="-122"/>
                <a:cs typeface="Calibri" pitchFamily="34" charset="-120"/>
              </a:rPr>
              <a:t>0.45x</a:t>
            </a:r>
            <a:endParaRPr lang="en-US" sz="2700" dirty="0"/>
          </a:p>
        </p:txBody>
      </p:sp>
      <p:sp>
        <p:nvSpPr>
          <p:cNvPr id="8" name="Text 5"/>
          <p:cNvSpPr txBox="1"/>
          <p:nvPr/>
        </p:nvSpPr>
        <p:spPr>
          <a:xfrm>
            <a:off x="548640" y="4489704"/>
            <a:ext cx="3749040" cy="45720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our pre-trained tiny BERT: 1,000 labels ~ 450 TF-IDF labels</a:t>
            </a:r>
            <a:endParaRPr lang="en-US" sz="1100" dirty="0"/>
          </a:p>
        </p:txBody>
      </p:sp>
      <p:sp>
        <p:nvSpPr>
          <p:cNvPr id="9" name="Shape 6"/>
          <p:cNvSpPr/>
          <p:nvPr/>
        </p:nvSpPr>
        <p:spPr>
          <a:xfrm>
            <a:off x="4709160" y="3794760"/>
            <a:ext cx="4023360" cy="1188720"/>
          </a:xfrm>
          <a:prstGeom prst="roundRect">
            <a:avLst>
              <a:gd name="adj" fmla="val 4615"/>
            </a:avLst>
          </a:prstGeom>
          <a:solidFill>
            <a:srgbClr val="F4F6F8"/>
          </a:solidFill>
          <a:ln w="12700">
            <a:solidFill>
              <a:srgbClr val="F4F6F8"/>
            </a:solidFill>
            <a:prstDash val="solid"/>
          </a:ln>
        </p:spPr>
      </p:sp>
      <p:sp>
        <p:nvSpPr>
          <p:cNvPr id="10" name="Text 7"/>
          <p:cNvSpPr txBox="1"/>
          <p:nvPr/>
        </p:nvSpPr>
        <p:spPr>
          <a:xfrm>
            <a:off x="4846320" y="3867912"/>
            <a:ext cx="3749040" cy="621792"/>
          </a:xfrm>
          <a:prstGeom prst="rect">
            <a:avLst/>
          </a:prstGeom>
          <a:noFill/>
          <a:ln/>
        </p:spPr>
        <p:txBody>
          <a:bodyPr wrap="square" lIns="0" tIns="0" rIns="0" bIns="0" rtlCol="0" anchor="ctr"/>
          <a:lstStyle/>
          <a:p>
            <a:pPr indent="0" marL="0">
              <a:buNone/>
            </a:pPr>
            <a:r>
              <a:rPr lang="en-US" sz="2700" b="1" dirty="0">
                <a:solidFill>
                  <a:srgbClr val="1F78B4"/>
                </a:solidFill>
                <a:latin typeface="Calibri" pitchFamily="34" charset="0"/>
                <a:ea typeface="Calibri" pitchFamily="34" charset="-122"/>
                <a:cs typeface="Calibri" pitchFamily="34" charset="-120"/>
              </a:rPr>
              <a:t>6.9x</a:t>
            </a:r>
            <a:endParaRPr lang="en-US" sz="2700" dirty="0"/>
          </a:p>
        </p:txBody>
      </p:sp>
      <p:sp>
        <p:nvSpPr>
          <p:cNvPr id="11" name="Text 8"/>
          <p:cNvSpPr txBox="1"/>
          <p:nvPr/>
        </p:nvSpPr>
        <p:spPr>
          <a:xfrm>
            <a:off x="4846320" y="4489704"/>
            <a:ext cx="3749040" cy="45720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DistilBERT with 1,000 labels beats TF-IDF with all 6,920</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9E77"/>
          </a:solidFill>
          <a:ln w="12700">
            <a:solidFill>
              <a:srgbClr val="1B9E77"/>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500" b="1" dirty="0">
                <a:solidFill>
                  <a:srgbClr val="14213D"/>
                </a:solidFill>
                <a:latin typeface="Calibri" pitchFamily="34" charset="0"/>
                <a:ea typeface="Calibri" pitchFamily="34" charset="-122"/>
                <a:cs typeface="Calibri" pitchFamily="34" charset="-120"/>
              </a:rPr>
              <a:t>RQ3: the probe improves, fine-tuning does not</a:t>
            </a:r>
            <a:endParaRPr lang="en-US" sz="2500" dirty="0"/>
          </a:p>
        </p:txBody>
      </p:sp>
      <p:sp>
        <p:nvSpPr>
          <p:cNvPr id="4" name="Text 2"/>
          <p:cNvSpPr txBox="1"/>
          <p:nvPr/>
        </p:nvSpPr>
        <p:spPr>
          <a:xfrm>
            <a:off x="411480" y="758952"/>
            <a:ext cx="832104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Checkpoints after 0-5,000 MLM steps; n = 1,000 labels; 3 seeds</a:t>
            </a:r>
            <a:endParaRPr lang="en-US" sz="1250" dirty="0"/>
          </a:p>
        </p:txBody>
      </p:sp>
      <p:pic>
        <p:nvPicPr>
          <p:cNvPr id="5" name="Image 0" descr="/tmp/nlp_review/code/tiny-nlp-research/results/figures/fig_ckpt.png">    </p:cNvPr>
          <p:cNvPicPr>
            <a:picLocks noChangeAspect="1"/>
          </p:cNvPicPr>
          <p:nvPr/>
        </p:nvPicPr>
        <p:blipFill>
          <a:blip r:embed="rId1"/>
          <a:srcRect l="0" r="0" t="0" b="0"/>
          <a:stretch/>
        </p:blipFill>
        <p:spPr>
          <a:xfrm>
            <a:off x="411480" y="1188720"/>
            <a:ext cx="4663440" cy="3246120"/>
          </a:xfrm>
          <a:prstGeom prst="rect">
            <a:avLst/>
          </a:prstGeom>
        </p:spPr>
      </p:pic>
      <p:sp>
        <p:nvSpPr>
          <p:cNvPr id="6" name="Shape 3"/>
          <p:cNvSpPr/>
          <p:nvPr/>
        </p:nvSpPr>
        <p:spPr>
          <a:xfrm>
            <a:off x="5349240" y="1280160"/>
            <a:ext cx="3383280" cy="1188720"/>
          </a:xfrm>
          <a:prstGeom prst="roundRect">
            <a:avLst>
              <a:gd name="adj" fmla="val 4615"/>
            </a:avLst>
          </a:prstGeom>
          <a:solidFill>
            <a:srgbClr val="F4F6F8"/>
          </a:solidFill>
          <a:ln w="12700">
            <a:solidFill>
              <a:srgbClr val="F4F6F8"/>
            </a:solidFill>
            <a:prstDash val="solid"/>
          </a:ln>
        </p:spPr>
      </p:sp>
      <p:sp>
        <p:nvSpPr>
          <p:cNvPr id="7" name="Text 4"/>
          <p:cNvSpPr txBox="1"/>
          <p:nvPr/>
        </p:nvSpPr>
        <p:spPr>
          <a:xfrm>
            <a:off x="5486400" y="1353312"/>
            <a:ext cx="3108960" cy="621792"/>
          </a:xfrm>
          <a:prstGeom prst="rect">
            <a:avLst/>
          </a:prstGeom>
          <a:noFill/>
          <a:ln/>
        </p:spPr>
        <p:txBody>
          <a:bodyPr wrap="square" lIns="0" tIns="0" rIns="0" bIns="0" rtlCol="0" anchor="ctr"/>
          <a:lstStyle/>
          <a:p>
            <a:pPr indent="0" marL="0">
              <a:buNone/>
            </a:pPr>
            <a:r>
              <a:rPr lang="en-US" sz="2700" b="1" dirty="0">
                <a:solidFill>
                  <a:srgbClr val="1B9E77"/>
                </a:solidFill>
                <a:latin typeface="Calibri" pitchFamily="34" charset="0"/>
                <a:ea typeface="Calibri" pitchFamily="34" charset="-122"/>
                <a:cs typeface="Calibri" pitchFamily="34" charset="-120"/>
              </a:rPr>
              <a:t>56.4 -&gt; 59.4</a:t>
            </a:r>
            <a:endParaRPr lang="en-US" sz="2700" dirty="0"/>
          </a:p>
        </p:txBody>
      </p:sp>
      <p:sp>
        <p:nvSpPr>
          <p:cNvPr id="8" name="Text 5"/>
          <p:cNvSpPr txBox="1"/>
          <p:nvPr/>
        </p:nvSpPr>
        <p:spPr>
          <a:xfrm>
            <a:off x="5486400" y="1975104"/>
            <a:ext cx="3108960" cy="45720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frozen linear probe: MLM does store sentiment info</a:t>
            </a:r>
            <a:endParaRPr lang="en-US" sz="1100" dirty="0"/>
          </a:p>
        </p:txBody>
      </p:sp>
      <p:sp>
        <p:nvSpPr>
          <p:cNvPr id="9" name="Shape 6"/>
          <p:cNvSpPr/>
          <p:nvPr/>
        </p:nvSpPr>
        <p:spPr>
          <a:xfrm>
            <a:off x="5349240" y="2606040"/>
            <a:ext cx="3383280" cy="1188720"/>
          </a:xfrm>
          <a:prstGeom prst="roundRect">
            <a:avLst>
              <a:gd name="adj" fmla="val 4615"/>
            </a:avLst>
          </a:prstGeom>
          <a:solidFill>
            <a:srgbClr val="F4F6F8"/>
          </a:solidFill>
          <a:ln w="12700">
            <a:solidFill>
              <a:srgbClr val="F4F6F8"/>
            </a:solidFill>
            <a:prstDash val="solid"/>
          </a:ln>
        </p:spPr>
      </p:sp>
      <p:sp>
        <p:nvSpPr>
          <p:cNvPr id="10" name="Text 7"/>
          <p:cNvSpPr txBox="1"/>
          <p:nvPr/>
        </p:nvSpPr>
        <p:spPr>
          <a:xfrm>
            <a:off x="5486400" y="2679192"/>
            <a:ext cx="3108960" cy="621792"/>
          </a:xfrm>
          <a:prstGeom prst="rect">
            <a:avLst/>
          </a:prstGeom>
          <a:noFill/>
          <a:ln/>
        </p:spPr>
        <p:txBody>
          <a:bodyPr wrap="square" lIns="0" tIns="0" rIns="0" bIns="0" rtlCol="0" anchor="ctr"/>
          <a:lstStyle/>
          <a:p>
            <a:pPr indent="0" marL="0">
              <a:buNone/>
            </a:pPr>
            <a:r>
              <a:rPr lang="en-US" sz="2700" b="1" dirty="0">
                <a:solidFill>
                  <a:srgbClr val="D95F02"/>
                </a:solidFill>
                <a:latin typeface="Calibri" pitchFamily="34" charset="0"/>
                <a:ea typeface="Calibri" pitchFamily="34" charset="-122"/>
                <a:cs typeface="Calibri" pitchFamily="34" charset="-120"/>
              </a:rPr>
              <a:t>69.7 -&gt; 65.7</a:t>
            </a:r>
            <a:endParaRPr lang="en-US" sz="2700" dirty="0"/>
          </a:p>
        </p:txBody>
      </p:sp>
      <p:sp>
        <p:nvSpPr>
          <p:cNvPr id="11" name="Text 8"/>
          <p:cNvSpPr txBox="1"/>
          <p:nvPr/>
        </p:nvSpPr>
        <p:spPr>
          <a:xfrm>
            <a:off x="5486400" y="3300984"/>
            <a:ext cx="3108960" cy="45720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fine-tuned accuracy falls with pre-training</a:t>
            </a:r>
            <a:endParaRPr lang="en-US" sz="1100" dirty="0"/>
          </a:p>
        </p:txBody>
      </p:sp>
      <p:sp>
        <p:nvSpPr>
          <p:cNvPr id="12" name="Text 9"/>
          <p:cNvSpPr txBox="1"/>
          <p:nvPr/>
        </p:nvSpPr>
        <p:spPr>
          <a:xfrm>
            <a:off x="5349240" y="3931920"/>
            <a:ext cx="3383280" cy="548640"/>
          </a:xfrm>
          <a:prstGeom prst="rect">
            <a:avLst/>
          </a:prstGeom>
          <a:noFill/>
          <a:ln/>
        </p:spPr>
        <p:txBody>
          <a:bodyPr wrap="square" lIns="0" tIns="0" rIns="0" bIns="0" rtlCol="0" anchor="ctr"/>
          <a:lstStyle/>
          <a:p>
            <a:pPr indent="0" marL="0">
              <a:buNone/>
            </a:pPr>
            <a:r>
              <a:rPr lang="en-US" sz="1250" i="1" dirty="0">
                <a:solidFill>
                  <a:srgbClr val="5B6472"/>
                </a:solidFill>
                <a:latin typeface="Calibri" pitchFamily="34" charset="0"/>
                <a:ea typeface="Calibri" pitchFamily="34" charset="-122"/>
                <a:cs typeface="Calibri" pitchFamily="34" charset="-120"/>
              </a:rPr>
              <a:t>A probe alone would have predicted a benefit.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9E77"/>
          </a:solidFill>
          <a:ln w="12700">
            <a:solidFill>
              <a:srgbClr val="1B9E77"/>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500" b="1" dirty="0">
                <a:solidFill>
                  <a:srgbClr val="14213D"/>
                </a:solidFill>
                <a:latin typeface="Calibri" pitchFamily="34" charset="0"/>
                <a:ea typeface="Calibri" pitchFamily="34" charset="-122"/>
                <a:cs typeface="Calibri" pitchFamily="34" charset="-120"/>
              </a:rPr>
              <a:t>RQ7: a conditional polarity-strength effect</a:t>
            </a:r>
            <a:endParaRPr lang="en-US" sz="2500" dirty="0"/>
          </a:p>
        </p:txBody>
      </p:sp>
      <p:sp>
        <p:nvSpPr>
          <p:cNvPr id="4" name="Text 2"/>
          <p:cNvSpPr txBox="1"/>
          <p:nvPr/>
        </p:nvSpPr>
        <p:spPr>
          <a:xfrm>
            <a:off x="411480" y="758952"/>
            <a:ext cx="832104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SST-5 strength is a proxy, not direct annotator disagreement</a:t>
            </a:r>
            <a:endParaRPr lang="en-US" sz="1250" dirty="0"/>
          </a:p>
        </p:txBody>
      </p:sp>
      <p:pic>
        <p:nvPicPr>
          <p:cNvPr id="5" name="Image 0" descr="/tmp/nlp_review/code/tiny-nlp-research/results/figures/fig_ambiguity.png">    </p:cNvPr>
          <p:cNvPicPr>
            <a:picLocks noChangeAspect="1"/>
          </p:cNvPicPr>
          <p:nvPr/>
        </p:nvPicPr>
        <p:blipFill>
          <a:blip r:embed="rId1"/>
          <a:srcRect l="0" r="0" t="0" b="0"/>
          <a:stretch/>
        </p:blipFill>
        <p:spPr>
          <a:xfrm>
            <a:off x="365760" y="1170432"/>
            <a:ext cx="8412480" cy="2880360"/>
          </a:xfrm>
          <a:prstGeom prst="rect">
            <a:avLst/>
          </a:prstGeom>
        </p:spPr>
      </p:pic>
      <p:sp>
        <p:nvSpPr>
          <p:cNvPr id="6" name="Text 3"/>
          <p:cNvSpPr txBox="1"/>
          <p:nvPr/>
        </p:nvSpPr>
        <p:spPr>
          <a:xfrm>
            <a:off x="411480" y="4114800"/>
            <a:ext cx="8321040" cy="91440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At n=1000: -4.7 pts on strong-polarity vs -1.3 on weak-polarity examples; weak-stratum CI includes zero</a:t>
            </a:r>
            <a:endParaRPr lang="en-US" sz="1150" dirty="0"/>
          </a:p>
          <a:p>
            <a:pPr marL="342900" indent="-342900">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Best ambiguity-awareness AUROC across ALL models: 0.62 (chance = 0.5) - nobody's confidence tracks ambiguity well</a:t>
            </a:r>
            <a:endParaRPr lang="en-US" sz="1150" dirty="0"/>
          </a:p>
          <a:p>
            <a:pPr marL="342900" indent="-342900">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Transformers on 1,000 labels are badly overconfident: ECE 23-26% vs 3-6% for TF-IDF</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9E77"/>
          </a:solidFill>
          <a:ln w="12700">
            <a:solidFill>
              <a:srgbClr val="1B9E77"/>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500" b="1" dirty="0">
                <a:solidFill>
                  <a:srgbClr val="14213D"/>
                </a:solidFill>
                <a:latin typeface="Calibri" pitchFamily="34" charset="0"/>
                <a:ea typeface="Calibri" pitchFamily="34" charset="-122"/>
                <a:cs typeface="Calibri" pitchFamily="34" charset="-120"/>
              </a:rPr>
              <a:t>RQ2: typos and domain shift</a:t>
            </a:r>
            <a:endParaRPr lang="en-US" sz="2500" dirty="0"/>
          </a:p>
        </p:txBody>
      </p:sp>
      <p:sp>
        <p:nvSpPr>
          <p:cNvPr id="4" name="Text 2"/>
          <p:cNvSpPr txBox="1"/>
          <p:nvPr/>
        </p:nvSpPr>
        <p:spPr>
          <a:xfrm>
            <a:off x="411480" y="758952"/>
            <a:ext cx="832104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Accuracy (%) at n = 6,920 labeled sentences</a:t>
            </a:r>
            <a:endParaRPr lang="en-US" sz="1250" dirty="0"/>
          </a:p>
        </p:txBody>
      </p:sp>
      <p:graphicFrame>
        <p:nvGraphicFramePr>
          <p:cNvPr id="5" name="Chart 0" descr=""/>
          <p:cNvGraphicFramePr/>
          <p:nvPr/>
        </p:nvGraphicFramePr>
        <p:xfrm>
          <a:off x="320040" y="1188720"/>
          <a:ext cx="5669280" cy="33832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126480" y="1325880"/>
            <a:ext cx="2651760" cy="320040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30% typos: transformers lose 4.9-7.1 pts vs 3.8 for TF-IDF</a:t>
            </a:r>
            <a:endParaRPr lang="en-US" sz="1250" dirty="0"/>
          </a:p>
          <a:p>
            <a:pPr marL="342900" indent="-3429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OOD: pre-training did not help ours; no public model beat TF-IDF</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9E77"/>
          </a:solidFill>
          <a:ln w="12700">
            <a:solidFill>
              <a:srgbClr val="1B9E77"/>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500" b="1" dirty="0">
                <a:solidFill>
                  <a:srgbClr val="14213D"/>
                </a:solidFill>
                <a:latin typeface="Calibri" pitchFamily="34" charset="0"/>
                <a:ea typeface="Calibri" pitchFamily="34" charset="-122"/>
                <a:cs typeface="Calibri" pitchFamily="34" charset="-120"/>
              </a:rPr>
              <a:t>Public checkpoints perform better</a:t>
            </a:r>
            <a:endParaRPr lang="en-US" sz="2500" dirty="0"/>
          </a:p>
        </p:txBody>
      </p:sp>
      <p:sp>
        <p:nvSpPr>
          <p:cNvPr id="4" name="Text 2"/>
          <p:cNvSpPr txBox="1"/>
          <p:nvPr/>
        </p:nvSpPr>
        <p:spPr>
          <a:xfrm>
            <a:off x="411480" y="758952"/>
            <a:ext cx="832104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SST-2 accuracy (%); public models differ in corpus, vocabulary and training recipe</a:t>
            </a:r>
            <a:endParaRPr lang="en-US" sz="1250" dirty="0"/>
          </a:p>
        </p:txBody>
      </p:sp>
      <p:graphicFrame>
        <p:nvGraphicFramePr>
          <p:cNvPr id="5" name="Chart 0" descr=""/>
          <p:cNvGraphicFramePr/>
          <p:nvPr/>
        </p:nvGraphicFramePr>
        <p:xfrm>
          <a:off x="320040" y="1188720"/>
          <a:ext cx="5212080" cy="32918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715000" y="1325880"/>
            <a:ext cx="3017520" cy="329184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BERT-Tiny has OUR depth and width: +9.3 pts at n=1k over our pre-trained model</a:t>
            </a:r>
            <a:endParaRPr lang="en-US" sz="1250" dirty="0"/>
          </a:p>
          <a:p>
            <a:pPr marL="342900" indent="-3429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DistilBERT: +16/+9 pts over TF-IDF, ~26 min to fine-tune vs 37 s</a:t>
            </a:r>
            <a:endParaRPr lang="en-US" sz="1250" dirty="0"/>
          </a:p>
          <a:p>
            <a:pPr marL="342900" indent="-3429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Consistent with a pre-training-scale benefit, but scale is not isolated here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9E77"/>
          </a:solidFill>
          <a:ln w="12700">
            <a:solidFill>
              <a:srgbClr val="1B9E77"/>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500" b="1" dirty="0">
                <a:solidFill>
                  <a:srgbClr val="14213D"/>
                </a:solidFill>
                <a:latin typeface="Calibri" pitchFamily="34" charset="0"/>
                <a:ea typeface="Calibri" pitchFamily="34" charset="-122"/>
                <a:cs typeface="Calibri" pitchFamily="34" charset="-120"/>
              </a:rPr>
              <a:t>RQ8: does it travel? Cross-domain generalisation</a:t>
            </a:r>
            <a:endParaRPr lang="en-US" sz="2500" dirty="0"/>
          </a:p>
        </p:txBody>
      </p:sp>
      <p:sp>
        <p:nvSpPr>
          <p:cNvPr id="4" name="Text 2"/>
          <p:cNvSpPr txBox="1"/>
          <p:nvPr/>
        </p:nvSpPr>
        <p:spPr>
          <a:xfrm>
            <a:off x="411480" y="758952"/>
            <a:ext cx="832104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Financial PhraseBank (finance news, real agreement) + Twitter Airline (tweets, real confidence)</a:t>
            </a:r>
            <a:endParaRPr lang="en-US" sz="1250" dirty="0"/>
          </a:p>
        </p:txBody>
      </p:sp>
      <p:pic>
        <p:nvPicPr>
          <p:cNvPr id="5" name="Image 0" descr="/tmp/nlp_review/code/tiny-nlp-research/results/figures/fig_cross_domain.png">    </p:cNvPr>
          <p:cNvPicPr>
            <a:picLocks noChangeAspect="1"/>
          </p:cNvPicPr>
          <p:nvPr/>
        </p:nvPicPr>
        <p:blipFill>
          <a:blip r:embed="rId1"/>
          <a:srcRect l="0" r="0" t="0" b="0"/>
          <a:stretch/>
        </p:blipFill>
        <p:spPr>
          <a:xfrm>
            <a:off x="320040" y="1143000"/>
            <a:ext cx="8503920" cy="3017520"/>
          </a:xfrm>
          <a:prstGeom prst="rect">
            <a:avLst/>
          </a:prstGeom>
        </p:spPr>
      </p:pic>
      <p:sp>
        <p:nvSpPr>
          <p:cNvPr id="6" name="Text 3"/>
          <p:cNvSpPr txBox="1"/>
          <p:nvPr/>
        </p:nvSpPr>
        <p:spPr>
          <a:xfrm>
            <a:off x="411480" y="4224528"/>
            <a:ext cx="8321040" cy="868680"/>
          </a:xfrm>
          <a:prstGeom prst="rect">
            <a:avLst/>
          </a:prstGeom>
          <a:noFill/>
          <a:ln/>
        </p:spPr>
        <p:txBody>
          <a:bodyPr wrap="square" lIns="0" tIns="0" rIns="0" bIns="0" rtlCol="0" anchor="t"/>
          <a:lstStyle/>
          <a:p>
            <a:pPr marL="342900" indent="-342900">
              <a:spcAft>
                <a:spcPts val="700"/>
              </a:spcAft>
              <a:buSzPct val="100000"/>
              <a:buChar char="•"/>
            </a:pPr>
            <a:r>
              <a:rPr lang="en-US" sz="1050" dirty="0">
                <a:solidFill>
                  <a:srgbClr val="1F2937"/>
                </a:solidFill>
                <a:latin typeface="Calibri" pitchFamily="34" charset="0"/>
                <a:ea typeface="Calibri" pitchFamily="34" charset="-122"/>
                <a:cs typeface="Calibri" pitchFamily="34" charset="-120"/>
              </a:rPr>
              <a:t>Low-budget results are descriptive: fastText +3.2 pts over MLM at airline n=100; paired intervals need rerun</a:t>
            </a:r>
            <a:endParaRPr lang="en-US" sz="1050" dirty="0"/>
          </a:p>
          <a:p>
            <a:pPr marL="342900" indent="-342900">
              <a:spcAft>
                <a:spcPts val="700"/>
              </a:spcAft>
              <a:buSzPct val="100000"/>
              <a:buChar char="•"/>
            </a:pPr>
            <a:r>
              <a:rPr lang="en-US" sz="1050" dirty="0">
                <a:solidFill>
                  <a:srgbClr val="1F2937"/>
                </a:solidFill>
                <a:latin typeface="Calibri" pitchFamily="34" charset="0"/>
                <a:ea typeface="Calibri" pitchFamily="34" charset="-122"/>
                <a:cs typeface="Calibri" pitchFamily="34" charset="-120"/>
              </a:rPr>
              <a:t>Full-data means are close, but no claim of equivalence without reproducible paired tests</a:t>
            </a:r>
            <a:endParaRPr lang="en-US" sz="1050" dirty="0"/>
          </a:p>
          <a:p>
            <a:pPr marL="342900" indent="-342900">
              <a:spcAft>
                <a:spcPts val="700"/>
              </a:spcAft>
              <a:buSzPct val="100000"/>
              <a:buChar char="•"/>
            </a:pPr>
            <a:r>
              <a:rPr lang="en-US" sz="1050" dirty="0">
                <a:solidFill>
                  <a:srgbClr val="1F2937"/>
                </a:solidFill>
                <a:latin typeface="Calibri" pitchFamily="34" charset="0"/>
                <a:ea typeface="Calibri" pitchFamily="34" charset="-122"/>
                <a:cs typeface="Calibri" pitchFamily="34" charset="-120"/>
              </a:rPr>
              <a:t>Transfer is directional: scratch Tiny SST-2-&gt;airline -4.7 pts; airline-&gt;SST-2 -35.1; finance TF-IDF-&gt;airline -60.5</a:t>
            </a:r>
            <a:endParaRPr lang="en-US" sz="1050" dirty="0"/>
          </a:p>
          <a:p>
            <a:pPr marL="342900" indent="-342900">
              <a:spcAft>
                <a:spcPts val="700"/>
              </a:spcAft>
              <a:buSzPct val="100000"/>
              <a:buChar char="•"/>
            </a:pPr>
            <a:r>
              <a:rPr lang="en-US" sz="1050" dirty="0">
                <a:solidFill>
                  <a:srgbClr val="1F2937"/>
                </a:solidFill>
                <a:latin typeface="Calibri" pitchFamily="34" charset="0"/>
                <a:ea typeface="Calibri" pitchFamily="34" charset="-122"/>
                <a:cs typeface="Calibri" pitchFamily="34" charset="-120"/>
              </a:rPr>
              <a:t>Macro-F1 matters: finance agreement strata drop 6-9 pts; airline confidence strata drop 16-19 pts (signals differ)</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9E77"/>
          </a:solidFill>
          <a:ln w="12700">
            <a:solidFill>
              <a:srgbClr val="1B9E77"/>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500" b="1" dirty="0">
                <a:solidFill>
                  <a:srgbClr val="14213D"/>
                </a:solidFill>
                <a:latin typeface="Calibri" pitchFamily="34" charset="0"/>
                <a:ea typeface="Calibri" pitchFamily="34" charset="-122"/>
                <a:cs typeface="Calibri" pitchFamily="34" charset="-120"/>
              </a:rPr>
              <a:t>Takeaways</a:t>
            </a:r>
            <a:endParaRPr lang="en-US" sz="2500" dirty="0"/>
          </a:p>
        </p:txBody>
      </p:sp>
      <p:sp>
        <p:nvSpPr>
          <p:cNvPr id="4" name="Text 2"/>
          <p:cNvSpPr txBox="1"/>
          <p:nvPr/>
        </p:nvSpPr>
        <p:spPr>
          <a:xfrm>
            <a:off x="411480" y="758952"/>
            <a:ext cx="832104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Three findings, one field guide</a:t>
            </a:r>
            <a:endParaRPr lang="en-US" sz="1250" dirty="0"/>
          </a:p>
        </p:txBody>
      </p:sp>
      <p:sp>
        <p:nvSpPr>
          <p:cNvPr id="5" name="Shape 3"/>
          <p:cNvSpPr/>
          <p:nvPr/>
        </p:nvSpPr>
        <p:spPr>
          <a:xfrm>
            <a:off x="411480" y="1188720"/>
            <a:ext cx="2651760" cy="1188720"/>
          </a:xfrm>
          <a:prstGeom prst="roundRect">
            <a:avLst>
              <a:gd name="adj" fmla="val 4615"/>
            </a:avLst>
          </a:prstGeom>
          <a:solidFill>
            <a:srgbClr val="F4F6F8"/>
          </a:solidFill>
          <a:ln w="12700">
            <a:solidFill>
              <a:srgbClr val="F4F6F8"/>
            </a:solidFill>
            <a:prstDash val="solid"/>
          </a:ln>
        </p:spPr>
      </p:sp>
      <p:sp>
        <p:nvSpPr>
          <p:cNvPr id="6" name="Text 4"/>
          <p:cNvSpPr txBox="1"/>
          <p:nvPr/>
        </p:nvSpPr>
        <p:spPr>
          <a:xfrm>
            <a:off x="548640" y="1261872"/>
            <a:ext cx="2377440" cy="621792"/>
          </a:xfrm>
          <a:prstGeom prst="rect">
            <a:avLst/>
          </a:prstGeom>
          <a:noFill/>
          <a:ln/>
        </p:spPr>
        <p:txBody>
          <a:bodyPr wrap="square" lIns="0" tIns="0" rIns="0" bIns="0" rtlCol="0" anchor="ctr"/>
          <a:lstStyle/>
          <a:p>
            <a:pPr indent="0" marL="0">
              <a:buNone/>
            </a:pPr>
            <a:r>
              <a:rPr lang="en-US" sz="2700" b="1" dirty="0">
                <a:solidFill>
                  <a:srgbClr val="D95F02"/>
                </a:solidFill>
                <a:latin typeface="Calibri" pitchFamily="34" charset="0"/>
                <a:ea typeface="Calibri" pitchFamily="34" charset="-122"/>
                <a:cs typeface="Calibri" pitchFamily="34" charset="-120"/>
              </a:rPr>
              <a:t>It depends</a:t>
            </a:r>
            <a:endParaRPr lang="en-US" sz="2700" dirty="0"/>
          </a:p>
        </p:txBody>
      </p:sp>
      <p:sp>
        <p:nvSpPr>
          <p:cNvPr id="7" name="Text 5"/>
          <p:cNvSpPr txBox="1"/>
          <p:nvPr/>
        </p:nvSpPr>
        <p:spPr>
          <a:xfrm>
            <a:off x="548640" y="1883664"/>
            <a:ext cx="2377440" cy="45720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fastText wins &lt;1k labels; TF-IDF wins after; MLM never does</a:t>
            </a:r>
            <a:endParaRPr lang="en-US" sz="1100" dirty="0"/>
          </a:p>
        </p:txBody>
      </p:sp>
      <p:sp>
        <p:nvSpPr>
          <p:cNvPr id="8" name="Shape 6"/>
          <p:cNvSpPr/>
          <p:nvPr/>
        </p:nvSpPr>
        <p:spPr>
          <a:xfrm>
            <a:off x="3246120" y="1188720"/>
            <a:ext cx="2651760" cy="1188720"/>
          </a:xfrm>
          <a:prstGeom prst="roundRect">
            <a:avLst>
              <a:gd name="adj" fmla="val 4615"/>
            </a:avLst>
          </a:prstGeom>
          <a:solidFill>
            <a:srgbClr val="F4F6F8"/>
          </a:solidFill>
          <a:ln w="12700">
            <a:solidFill>
              <a:srgbClr val="F4F6F8"/>
            </a:solidFill>
            <a:prstDash val="solid"/>
          </a:ln>
        </p:spPr>
      </p:sp>
      <p:sp>
        <p:nvSpPr>
          <p:cNvPr id="9" name="Text 7"/>
          <p:cNvSpPr txBox="1"/>
          <p:nvPr/>
        </p:nvSpPr>
        <p:spPr>
          <a:xfrm>
            <a:off x="3383280" y="1261872"/>
            <a:ext cx="2377440" cy="621792"/>
          </a:xfrm>
          <a:prstGeom prst="rect">
            <a:avLst/>
          </a:prstGeom>
          <a:noFill/>
          <a:ln/>
        </p:spPr>
        <p:txBody>
          <a:bodyPr wrap="square" lIns="0" tIns="0" rIns="0" bIns="0" rtlCol="0" anchor="ctr"/>
          <a:lstStyle/>
          <a:p>
            <a:pPr indent="0" marL="0">
              <a:buNone/>
            </a:pPr>
            <a:r>
              <a:rPr lang="en-US" sz="2700" b="1" dirty="0">
                <a:solidFill>
                  <a:srgbClr val="1B9E77"/>
                </a:solidFill>
                <a:latin typeface="Calibri" pitchFamily="34" charset="0"/>
                <a:ea typeface="Calibri" pitchFamily="34" charset="-122"/>
                <a:cs typeface="Calibri" pitchFamily="34" charset="-120"/>
              </a:rPr>
              <a:t>Where it differs</a:t>
            </a:r>
            <a:endParaRPr lang="en-US" sz="2700" dirty="0"/>
          </a:p>
        </p:txBody>
      </p:sp>
      <p:sp>
        <p:nvSpPr>
          <p:cNvPr id="10" name="Text 8"/>
          <p:cNvSpPr txBox="1"/>
          <p:nvPr/>
        </p:nvSpPr>
        <p:spPr>
          <a:xfrm>
            <a:off x="3383280" y="1883664"/>
            <a:ext cx="2377440" cy="45720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larger estimated deficit on strong-polarity examples</a:t>
            </a:r>
            <a:endParaRPr lang="en-US" sz="1100" dirty="0"/>
          </a:p>
        </p:txBody>
      </p:sp>
      <p:sp>
        <p:nvSpPr>
          <p:cNvPr id="11" name="Shape 9"/>
          <p:cNvSpPr/>
          <p:nvPr/>
        </p:nvSpPr>
        <p:spPr>
          <a:xfrm>
            <a:off x="6080760" y="1188720"/>
            <a:ext cx="2651760" cy="1188720"/>
          </a:xfrm>
          <a:prstGeom prst="roundRect">
            <a:avLst>
              <a:gd name="adj" fmla="val 4615"/>
            </a:avLst>
          </a:prstGeom>
          <a:solidFill>
            <a:srgbClr val="F4F6F8"/>
          </a:solidFill>
          <a:ln w="12700">
            <a:solidFill>
              <a:srgbClr val="F4F6F8"/>
            </a:solidFill>
            <a:prstDash val="solid"/>
          </a:ln>
        </p:spPr>
      </p:sp>
      <p:sp>
        <p:nvSpPr>
          <p:cNvPr id="12" name="Text 10"/>
          <p:cNvSpPr txBox="1"/>
          <p:nvPr/>
        </p:nvSpPr>
        <p:spPr>
          <a:xfrm>
            <a:off x="6217920" y="1261872"/>
            <a:ext cx="2377440" cy="621792"/>
          </a:xfrm>
          <a:prstGeom prst="rect">
            <a:avLst/>
          </a:prstGeom>
          <a:noFill/>
          <a:ln/>
        </p:spPr>
        <p:txBody>
          <a:bodyPr wrap="square" lIns="0" tIns="0" rIns="0" bIns="0" rtlCol="0" anchor="ctr"/>
          <a:lstStyle/>
          <a:p>
            <a:pPr indent="0" marL="0">
              <a:buNone/>
            </a:pPr>
            <a:r>
              <a:rPr lang="en-US" sz="2700" b="1" dirty="0">
                <a:solidFill>
                  <a:srgbClr val="1F78B4"/>
                </a:solidFill>
                <a:latin typeface="Calibri" pitchFamily="34" charset="0"/>
                <a:ea typeface="Calibri" pitchFamily="34" charset="-122"/>
                <a:cs typeface="Calibri" pitchFamily="34" charset="-120"/>
              </a:rPr>
              <a:t>Be cautious</a:t>
            </a:r>
            <a:endParaRPr lang="en-US" sz="2700" dirty="0"/>
          </a:p>
        </p:txBody>
      </p:sp>
      <p:sp>
        <p:nvSpPr>
          <p:cNvPr id="13" name="Text 11"/>
          <p:cNvSpPr txBox="1"/>
          <p:nvPr/>
        </p:nvSpPr>
        <p:spPr>
          <a:xfrm>
            <a:off x="6217920" y="1883664"/>
            <a:ext cx="2377440" cy="45720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confidence weakly detects the polarity-strength proxy</a:t>
            </a:r>
            <a:endParaRPr lang="en-US" sz="1100" dirty="0"/>
          </a:p>
        </p:txBody>
      </p:sp>
      <p:sp>
        <p:nvSpPr>
          <p:cNvPr id="14" name="Text 12"/>
          <p:cNvSpPr txBox="1"/>
          <p:nvPr/>
        </p:nvSpPr>
        <p:spPr>
          <a:xfrm>
            <a:off x="411480" y="2606040"/>
            <a:ext cx="8229600" cy="228600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1F2937"/>
                </a:solidFill>
                <a:latin typeface="Calibri" pitchFamily="34" charset="0"/>
                <a:ea typeface="Calibri" pitchFamily="34" charset="-122"/>
                <a:cs typeface="Calibri" pitchFamily="34" charset="-120"/>
              </a:rPr>
              <a:t>Field guide: few hundred labels -&gt; fastText; few thousand -&gt; TF-IDF; public checkpoint available -&gt; use it</a:t>
            </a:r>
            <a:endParaRPr lang="en-US" sz="1350" dirty="0"/>
          </a:p>
          <a:p>
            <a:pPr marL="342900" indent="-342900">
              <a:spcAft>
                <a:spcPts val="700"/>
              </a:spcAft>
              <a:buSzPct val="100000"/>
              <a:buChar char="•"/>
            </a:pPr>
            <a:r>
              <a:rPr lang="en-US" sz="1350" dirty="0">
                <a:solidFill>
                  <a:srgbClr val="1F2937"/>
                </a:solidFill>
                <a:latin typeface="Calibri" pitchFamily="34" charset="0"/>
                <a:ea typeface="Calibri" pitchFamily="34" charset="-122"/>
                <a:cs typeface="Calibri" pitchFamily="34" charset="-120"/>
              </a:rPr>
              <a:t>Public checkpoints perform better, but the comparison does not isolate corpus scale from vocabulary and recipe</a:t>
            </a:r>
            <a:endParaRPr lang="en-US" sz="1350" dirty="0"/>
          </a:p>
          <a:p>
            <a:pPr marL="342900" indent="-342900">
              <a:spcAft>
                <a:spcPts val="700"/>
              </a:spcAft>
              <a:buSzPct val="100000"/>
              <a:buChar char="•"/>
            </a:pPr>
            <a:r>
              <a:rPr lang="en-US" sz="1350" dirty="0">
                <a:solidFill>
                  <a:srgbClr val="1F2937"/>
                </a:solidFill>
                <a:latin typeface="Calibri" pitchFamily="34" charset="0"/>
                <a:ea typeface="Calibri" pitchFamily="34" charset="-122"/>
                <a:cs typeface="Calibri" pitchFamily="34" charset="-120"/>
              </a:rPr>
              <a:t>Next: tuned checkpoints, more seeds, larger OOD tests and direct annotator-disagreement labels</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D95F02"/>
          </a:solidFill>
          <a:ln w="12700">
            <a:solidFill>
              <a:srgbClr val="D95F02"/>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500" b="1" dirty="0">
                <a:solidFill>
                  <a:srgbClr val="14213D"/>
                </a:solidFill>
                <a:latin typeface="Calibri" pitchFamily="34" charset="0"/>
                <a:ea typeface="Calibri" pitchFamily="34" charset="-122"/>
                <a:cs typeface="Calibri" pitchFamily="34" charset="-120"/>
              </a:rPr>
              <a:t>Backup: cost of each model</a:t>
            </a:r>
            <a:endParaRPr lang="en-US" sz="2500" dirty="0"/>
          </a:p>
        </p:txBody>
      </p:sp>
      <p:sp>
        <p:nvSpPr>
          <p:cNvPr id="4" name="Text 2"/>
          <p:cNvSpPr txBox="1"/>
          <p:nvPr/>
        </p:nvSpPr>
        <p:spPr>
          <a:xfrm>
            <a:off x="411480" y="758952"/>
            <a:ext cx="832104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Single CPU thread; seed-0 full-data models</a:t>
            </a:r>
            <a:endParaRPr lang="en-US" sz="1250" dirty="0"/>
          </a:p>
        </p:txBody>
      </p:sp>
      <p:sp>
        <p:nvSpPr>
          <p:cNvPr id="5" name="Text 3"/>
          <p:cNvSpPr txBox="1"/>
          <p:nvPr/>
        </p:nvSpPr>
        <p:spPr>
          <a:xfrm>
            <a:off x="7863840" y="256032"/>
            <a:ext cx="914400" cy="274320"/>
          </a:xfrm>
          <a:prstGeom prst="rect">
            <a:avLst/>
          </a:prstGeom>
          <a:noFill/>
          <a:ln/>
        </p:spPr>
        <p:txBody>
          <a:bodyPr wrap="square" lIns="0" tIns="0" rIns="0" bIns="0" rtlCol="0" anchor="ctr"/>
          <a:lstStyle/>
          <a:p>
            <a:pPr algn="r" indent="0" marL="0">
              <a:buNone/>
            </a:pPr>
            <a:r>
              <a:rPr lang="en-US" sz="1100" b="1" dirty="0">
                <a:solidFill>
                  <a:srgbClr val="D95F02"/>
                </a:solidFill>
                <a:latin typeface="Calibri" pitchFamily="34" charset="0"/>
                <a:ea typeface="Calibri" pitchFamily="34" charset="-122"/>
                <a:cs typeface="Calibri" pitchFamily="34" charset="-120"/>
              </a:rPr>
              <a:t>BACKUP</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11480" y="1280160"/>
          <a:ext cx="8321040" cy="914400"/>
        </p:xfrm>
        <a:graphic>
          <a:graphicData uri="http://schemas.openxmlformats.org/drawingml/2006/table">
            <a:tbl>
              <a:tblPr/>
              <a:tblGrid>
                <a:gridCol w="3017520"/>
                <a:gridCol w="1371600"/>
                <a:gridCol w="1371600"/>
                <a:gridCol w="1280160"/>
                <a:gridCol w="1280160"/>
              </a:tblGrid>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Size (MB)</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Latency (ms)</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Sent./s</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Acc. (%)</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4213D"/>
                    </a:solidFill>
                  </a:tcPr>
                </a:tc>
              </a:tr>
              <a:tr h="384048">
                <a:tc>
                  <a:txBody>
                    <a:bodyPr/>
                    <a:lstStyle/>
                    <a:p>
                      <a:pPr algn="l" indent="0" marL="0">
                        <a:buNone/>
                      </a:pPr>
                      <a:r>
                        <a:rPr lang="en-US" sz="1200" dirty="0">
                          <a:solidFill>
                            <a:srgbClr val="1F2937"/>
                          </a:solidFill>
                          <a:latin typeface="Calibri" pitchFamily="34" charset="0"/>
                          <a:ea typeface="Calibri" pitchFamily="34" charset="-122"/>
                          <a:cs typeface="Calibri" pitchFamily="34" charset="-120"/>
                        </a:rPr>
                        <a:t>Tiny random init, FP32</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4.71</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1.03</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4,914</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78.3</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r>
              <a:tr h="384048">
                <a:tc>
                  <a:txBody>
                    <a:bodyPr/>
                    <a:lstStyle/>
                    <a:p>
                      <a:pPr algn="l" indent="0" marL="0">
                        <a:buNone/>
                      </a:pPr>
                      <a:r>
                        <a:rPr lang="en-US" sz="1200" dirty="0">
                          <a:solidFill>
                            <a:srgbClr val="1F2937"/>
                          </a:solidFill>
                          <a:latin typeface="Calibri" pitchFamily="34" charset="0"/>
                          <a:ea typeface="Calibri" pitchFamily="34" charset="-122"/>
                          <a:cs typeface="Calibri" pitchFamily="34" charset="-120"/>
                        </a:rPr>
                        <a:t>Tiny +MLM, FP32</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4.71</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1.02</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5,073</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76.1</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F2937"/>
                          </a:solidFill>
                          <a:latin typeface="Calibri" pitchFamily="34" charset="0"/>
                          <a:ea typeface="Calibri" pitchFamily="34" charset="-122"/>
                          <a:cs typeface="Calibri" pitchFamily="34" charset="-120"/>
                        </a:rPr>
                        <a:t>Tiny +MLM, INT8 dynamic</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3.54</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1.71</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3,196</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75.9</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r>
              <a:tr h="384048">
                <a:tc>
                  <a:txBody>
                    <a:bodyPr/>
                    <a:lstStyle/>
                    <a:p>
                      <a:pPr algn="l" indent="0" marL="0">
                        <a:buNone/>
                      </a:pPr>
                      <a:r>
                        <a:rPr lang="en-US" sz="1200" dirty="0">
                          <a:solidFill>
                            <a:srgbClr val="1F2937"/>
                          </a:solidFill>
                          <a:latin typeface="Calibri" pitchFamily="34" charset="0"/>
                          <a:ea typeface="Calibri" pitchFamily="34" charset="-122"/>
                          <a:cs typeface="Calibri" pitchFamily="34" charset="-120"/>
                        </a:rPr>
                        <a:t>TF-IDF + LogReg</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2.72</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0.31</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48,388</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81.3</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F2937"/>
                          </a:solidFill>
                          <a:latin typeface="Calibri" pitchFamily="34" charset="0"/>
                          <a:ea typeface="Calibri" pitchFamily="34" charset="-122"/>
                          <a:cs typeface="Calibri" pitchFamily="34" charset="-120"/>
                        </a:rPr>
                        <a:t>fastText + LogReg (est.)</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~0.5</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~0.5</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~10,000</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71.2</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r>
            </a:tbl>
          </a:graphicData>
        </a:graphic>
      </p:graphicFrame>
      <p:sp>
        <p:nvSpPr>
          <p:cNvPr id="7" name="Text 4"/>
          <p:cNvSpPr txBox="1"/>
          <p:nvPr/>
        </p:nvSpPr>
        <p:spPr>
          <a:xfrm>
            <a:off x="411480" y="3429000"/>
            <a:ext cx="8229600" cy="12801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F2937"/>
                </a:solidFill>
                <a:latin typeface="Calibri" pitchFamily="34" charset="0"/>
                <a:ea typeface="Calibri" pitchFamily="34" charset="-122"/>
                <a:cs typeface="Calibri" pitchFamily="34" charset="-120"/>
              </a:rPr>
              <a:t>INT8: -25% file size, accuracy unchanged within noise (single model)</a:t>
            </a:r>
            <a:endParaRPr lang="en-US" sz="1300" dirty="0"/>
          </a:p>
          <a:p>
            <a:pPr marL="342900" indent="-342900">
              <a:spcAft>
                <a:spcPts val="700"/>
              </a:spcAft>
              <a:buSzPct val="100000"/>
              <a:buChar char="•"/>
            </a:pPr>
            <a:r>
              <a:rPr lang="en-US" sz="1300" dirty="0">
                <a:solidFill>
                  <a:srgbClr val="1F2937"/>
                </a:solidFill>
                <a:latin typeface="Calibri" pitchFamily="34" charset="0"/>
                <a:ea typeface="Calibri" pitchFamily="34" charset="-122"/>
                <a:cs typeface="Calibri" pitchFamily="34" charset="-120"/>
              </a:rPr>
              <a:t>fastText row is an order-of-magnitude estimate, not separately measured</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D95F02"/>
          </a:solidFill>
          <a:ln w="12700">
            <a:solidFill>
              <a:srgbClr val="D95F02"/>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500" b="1" dirty="0">
                <a:solidFill>
                  <a:srgbClr val="14213D"/>
                </a:solidFill>
                <a:latin typeface="Calibri" pitchFamily="34" charset="0"/>
                <a:ea typeface="Calibri" pitchFamily="34" charset="-122"/>
                <a:cs typeface="Calibri" pitchFamily="34" charset="-120"/>
              </a:rPr>
              <a:t>Backup: statistical evidence</a:t>
            </a:r>
            <a:endParaRPr lang="en-US" sz="2500" dirty="0"/>
          </a:p>
        </p:txBody>
      </p:sp>
      <p:sp>
        <p:nvSpPr>
          <p:cNvPr id="4" name="Text 2"/>
          <p:cNvSpPr txBox="1"/>
          <p:nvPr/>
        </p:nvSpPr>
        <p:spPr>
          <a:xfrm>
            <a:off x="411480" y="758952"/>
            <a:ext cx="832104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SST-2 paired sentence bootstrap; intervals conditional on the saved seeds</a:t>
            </a:r>
            <a:endParaRPr lang="en-US" sz="1250" dirty="0"/>
          </a:p>
        </p:txBody>
      </p:sp>
      <p:sp>
        <p:nvSpPr>
          <p:cNvPr id="5" name="Text 3"/>
          <p:cNvSpPr txBox="1"/>
          <p:nvPr/>
        </p:nvSpPr>
        <p:spPr>
          <a:xfrm>
            <a:off x="7863840" y="256032"/>
            <a:ext cx="914400" cy="274320"/>
          </a:xfrm>
          <a:prstGeom prst="rect">
            <a:avLst/>
          </a:prstGeom>
          <a:noFill/>
          <a:ln/>
        </p:spPr>
        <p:txBody>
          <a:bodyPr wrap="square" lIns="0" tIns="0" rIns="0" bIns="0" rtlCol="0" anchor="ctr"/>
          <a:lstStyle/>
          <a:p>
            <a:pPr algn="r" indent="0" marL="0">
              <a:buNone/>
            </a:pPr>
            <a:r>
              <a:rPr lang="en-US" sz="1100" b="1" dirty="0">
                <a:solidFill>
                  <a:srgbClr val="D95F02"/>
                </a:solidFill>
                <a:latin typeface="Calibri" pitchFamily="34" charset="0"/>
                <a:ea typeface="Calibri" pitchFamily="34" charset="-122"/>
                <a:cs typeface="Calibri" pitchFamily="34" charset="-120"/>
              </a:rPr>
              <a:t>BACKUP</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11480" y="1280160"/>
          <a:ext cx="8321040" cy="914400"/>
        </p:xfrm>
        <a:graphic>
          <a:graphicData uri="http://schemas.openxmlformats.org/drawingml/2006/table">
            <a:tbl>
              <a:tblPr/>
              <a:tblGrid>
                <a:gridCol w="4206240"/>
                <a:gridCol w="2057400"/>
                <a:gridCol w="2057400"/>
              </a:tblGrid>
              <a:tr h="50292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Comparison</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n=1000</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n=6920</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4213D"/>
                    </a:solidFill>
                  </a:tcPr>
                </a:tc>
              </a:tr>
              <a:tr h="502920">
                <a:tc>
                  <a:txBody>
                    <a:bodyPr/>
                    <a:lstStyle/>
                    <a:p>
                      <a:pPr algn="l" indent="0" marL="0">
                        <a:buNone/>
                      </a:pPr>
                      <a:r>
                        <a:rPr lang="en-US" sz="1200" dirty="0">
                          <a:solidFill>
                            <a:srgbClr val="1F2937"/>
                          </a:solidFill>
                          <a:latin typeface="Calibri" pitchFamily="34" charset="0"/>
                          <a:ea typeface="Calibri" pitchFamily="34" charset="-122"/>
                          <a:cs typeface="Calibri" pitchFamily="34" charset="-120"/>
                        </a:rPr>
                        <a:t>+MLM - random init, STRONG sentences</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-4.7* [-7.2,-2.2]</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-2.6* [-4.8,-0.2]</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r>
              <a:tr h="502920">
                <a:tc>
                  <a:txBody>
                    <a:bodyPr/>
                    <a:lstStyle/>
                    <a:p>
                      <a:pPr algn="l" indent="0" marL="0">
                        <a:buNone/>
                      </a:pPr>
                      <a:r>
                        <a:rPr lang="en-US" sz="1200" dirty="0">
                          <a:solidFill>
                            <a:srgbClr val="1F2937"/>
                          </a:solidFill>
                          <a:latin typeface="Calibri" pitchFamily="34" charset="0"/>
                          <a:ea typeface="Calibri" pitchFamily="34" charset="-122"/>
                          <a:cs typeface="Calibri" pitchFamily="34" charset="-120"/>
                        </a:rPr>
                        <a:t>+MLM - random init, WEAK sentences</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-1.3 [-3.4,+0.8]</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-0.1 [-2.2,+1.9]</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502920">
                <a:tc>
                  <a:txBody>
                    <a:bodyPr/>
                    <a:lstStyle/>
                    <a:p>
                      <a:pPr algn="l" indent="0" marL="0">
                        <a:buNone/>
                      </a:pPr>
                      <a:r>
                        <a:rPr lang="en-US" sz="1200" dirty="0">
                          <a:solidFill>
                            <a:srgbClr val="1F2937"/>
                          </a:solidFill>
                          <a:latin typeface="Calibri" pitchFamily="34" charset="0"/>
                          <a:ea typeface="Calibri" pitchFamily="34" charset="-122"/>
                          <a:cs typeface="Calibri" pitchFamily="34" charset="-120"/>
                        </a:rPr>
                        <a:t>+MLM - random init, TF-IDF LR (overall)</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-2.5* [-4.2,-1.0]</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-1.0 [-2.6,+0.5]</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r>
            </a:tbl>
          </a:graphicData>
        </a:graphic>
      </p:graphicFrame>
      <p:sp>
        <p:nvSpPr>
          <p:cNvPr id="7" name="Text 4"/>
          <p:cNvSpPr txBox="1"/>
          <p:nvPr/>
        </p:nvSpPr>
        <p:spPr>
          <a:xfrm>
            <a:off x="411480" y="3291840"/>
            <a:ext cx="8229600" cy="12801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F2937"/>
                </a:solidFill>
                <a:latin typeface="Calibri" pitchFamily="34" charset="0"/>
                <a:ea typeface="Calibri" pitchFamily="34" charset="-122"/>
                <a:cs typeface="Calibri" pitchFamily="34" charset="-120"/>
              </a:rPr>
              <a:t>Interaction (strong - weak) at n=1000: -3.5 [-6.7,-0.3], CI excludes 0</a:t>
            </a:r>
            <a:endParaRPr lang="en-US" sz="1300" dirty="0"/>
          </a:p>
          <a:p>
            <a:pPr marL="342900" indent="-342900">
              <a:spcAft>
                <a:spcPts val="700"/>
              </a:spcAft>
              <a:buSzPct val="100000"/>
              <a:buChar char="•"/>
            </a:pPr>
            <a:r>
              <a:rPr lang="en-US" sz="1300" dirty="0">
                <a:solidFill>
                  <a:srgbClr val="1F2937"/>
                </a:solidFill>
                <a:latin typeface="Calibri" pitchFamily="34" charset="0"/>
                <a:ea typeface="Calibri" pitchFamily="34" charset="-122"/>
                <a:cs typeface="Calibri" pitchFamily="34" charset="-120"/>
              </a:rPr>
              <a:t>Method: resample 1,821 test sentences 2,000 times after averaging paired per-sentence correctness differences over matched seeds; this does not capture retraining variability</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D95F02"/>
          </a:solidFill>
          <a:ln w="12700">
            <a:solidFill>
              <a:srgbClr val="D95F02"/>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500" b="1" dirty="0">
                <a:solidFill>
                  <a:srgbClr val="14213D"/>
                </a:solidFill>
                <a:latin typeface="Calibri" pitchFamily="34" charset="0"/>
                <a:ea typeface="Calibri" pitchFamily="34" charset="-122"/>
                <a:cs typeface="Calibri" pitchFamily="34" charset="-120"/>
              </a:rPr>
              <a:t>Backup: limitations and threats to validity</a:t>
            </a:r>
            <a:endParaRPr lang="en-US" sz="2500" dirty="0"/>
          </a:p>
        </p:txBody>
      </p:sp>
      <p:sp>
        <p:nvSpPr>
          <p:cNvPr id="4" name="Text 2"/>
          <p:cNvSpPr txBox="1"/>
          <p:nvPr/>
        </p:nvSpPr>
        <p:spPr>
          <a:xfrm>
            <a:off x="411480" y="758952"/>
            <a:ext cx="832104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What the results do and do not show</a:t>
            </a:r>
            <a:endParaRPr lang="en-US" sz="1250" dirty="0"/>
          </a:p>
        </p:txBody>
      </p:sp>
      <p:sp>
        <p:nvSpPr>
          <p:cNvPr id="5" name="Text 3"/>
          <p:cNvSpPr txBox="1"/>
          <p:nvPr/>
        </p:nvSpPr>
        <p:spPr>
          <a:xfrm>
            <a:off x="7863840" y="256032"/>
            <a:ext cx="914400" cy="274320"/>
          </a:xfrm>
          <a:prstGeom prst="rect">
            <a:avLst/>
          </a:prstGeom>
          <a:noFill/>
          <a:ln/>
        </p:spPr>
        <p:txBody>
          <a:bodyPr wrap="square" lIns="0" tIns="0" rIns="0" bIns="0" rtlCol="0" anchor="ctr"/>
          <a:lstStyle/>
          <a:p>
            <a:pPr algn="r" indent="0" marL="0">
              <a:buNone/>
            </a:pPr>
            <a:r>
              <a:rPr lang="en-US" sz="1100" b="1" dirty="0">
                <a:solidFill>
                  <a:srgbClr val="D95F02"/>
                </a:solidFill>
                <a:latin typeface="Calibri" pitchFamily="34" charset="0"/>
                <a:ea typeface="Calibri" pitchFamily="34" charset="-122"/>
                <a:cs typeface="Calibri" pitchFamily="34" charset="-120"/>
              </a:rPr>
              <a:t>BACKUP</a:t>
            </a:r>
            <a:endParaRPr lang="en-US" sz="1100" dirty="0"/>
          </a:p>
        </p:txBody>
      </p:sp>
      <p:sp>
        <p:nvSpPr>
          <p:cNvPr id="6" name="Text 4"/>
          <p:cNvSpPr txBox="1"/>
          <p:nvPr/>
        </p:nvSpPr>
        <p:spPr>
          <a:xfrm>
            <a:off x="411480" y="1234440"/>
            <a:ext cx="8229600" cy="347472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1F2937"/>
                </a:solidFill>
                <a:latin typeface="Calibri" pitchFamily="34" charset="0"/>
                <a:ea typeface="Calibri" pitchFamily="34" charset="-122"/>
                <a:cs typeface="Calibri" pitchFamily="34" charset="-120"/>
              </a:rPr>
              <a:t>Ambiguity proxy is SST-5 polarity STRENGTH, not annotator disagreement; 'weak' covers 62.8% of sentences</a:t>
            </a:r>
            <a:endParaRPr lang="en-US" sz="1350" dirty="0"/>
          </a:p>
          <a:p>
            <a:pPr marL="342900" indent="-342900">
              <a:spcAft>
                <a:spcPts val="700"/>
              </a:spcAft>
              <a:buSzPct val="100000"/>
              <a:buChar char="•"/>
            </a:pPr>
            <a:r>
              <a:rPr lang="en-US" sz="1350" dirty="0">
                <a:solidFill>
                  <a:srgbClr val="1F2937"/>
                </a:solidFill>
                <a:latin typeface="Calibri" pitchFamily="34" charset="0"/>
                <a:ea typeface="Calibri" pitchFamily="34" charset="-122"/>
                <a:cs typeface="Calibri" pitchFamily="34" charset="-120"/>
              </a:rPr>
              <a:t>Only 2 public checkpoints (BERT-Tiny, DistilBERT), untuned learning rates, predictions not stored (no paired tests for them)</a:t>
            </a:r>
            <a:endParaRPr lang="en-US" sz="1350" dirty="0"/>
          </a:p>
          <a:p>
            <a:pPr marL="342900" indent="-342900">
              <a:spcAft>
                <a:spcPts val="700"/>
              </a:spcAft>
              <a:buSzPct val="100000"/>
              <a:buChar char="•"/>
            </a:pPr>
            <a:r>
              <a:rPr lang="en-US" sz="1350" dirty="0">
                <a:solidFill>
                  <a:srgbClr val="1F2937"/>
                </a:solidFill>
                <a:latin typeface="Calibri" pitchFamily="34" charset="0"/>
                <a:ea typeface="Calibri" pitchFamily="34" charset="-122"/>
                <a:cs typeface="Calibri" pitchFamily="34" charset="-120"/>
              </a:rPr>
              <a:t>Embedding families untuned (fixed dim/epochs/pooling); no CNN/BiLSTM baseline</a:t>
            </a:r>
            <a:endParaRPr lang="en-US" sz="1350" dirty="0"/>
          </a:p>
          <a:p>
            <a:pPr marL="342900" indent="-342900">
              <a:spcAft>
                <a:spcPts val="700"/>
              </a:spcAft>
              <a:buSzPct val="100000"/>
              <a:buChar char="•"/>
            </a:pPr>
            <a:r>
              <a:rPr lang="en-US" sz="1350" dirty="0">
                <a:solidFill>
                  <a:srgbClr val="1F2937"/>
                </a:solidFill>
                <a:latin typeface="Calibri" pitchFamily="34" charset="0"/>
                <a:ea typeface="Calibri" pitchFamily="34" charset="-122"/>
                <a:cs typeface="Calibri" pitchFamily="34" charset="-120"/>
              </a:rPr>
              <a:t>3 seeds; full 872-sentence dev set for early stopping even at n=100</a:t>
            </a:r>
            <a:endParaRPr lang="en-US" sz="1350" dirty="0"/>
          </a:p>
          <a:p>
            <a:pPr marL="342900" indent="-342900">
              <a:spcAft>
                <a:spcPts val="700"/>
              </a:spcAft>
              <a:buSzPct val="100000"/>
              <a:buChar char="•"/>
            </a:pPr>
            <a:r>
              <a:rPr lang="en-US" sz="1350" dirty="0">
                <a:solidFill>
                  <a:srgbClr val="1F2937"/>
                </a:solidFill>
                <a:latin typeface="Calibri" pitchFamily="34" charset="0"/>
                <a:ea typeface="Calibri" pitchFamily="34" charset="-122"/>
                <a:cs typeface="Calibri" pitchFamily="34" charset="-120"/>
              </a:rPr>
              <a:t>One task and one language (English sentiment), across three domains</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D95F02"/>
          </a:solidFill>
          <a:ln w="12700">
            <a:solidFill>
              <a:srgbClr val="D95F02"/>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500" b="1" dirty="0">
                <a:solidFill>
                  <a:srgbClr val="14213D"/>
                </a:solidFill>
                <a:latin typeface="Calibri" pitchFamily="34" charset="0"/>
                <a:ea typeface="Calibri" pitchFamily="34" charset="-122"/>
                <a:cs typeface="Calibri" pitchFamily="34" charset="-120"/>
              </a:rPr>
              <a:t>Backup: reproducibility</a:t>
            </a:r>
            <a:endParaRPr lang="en-US" sz="2500" dirty="0"/>
          </a:p>
        </p:txBody>
      </p:sp>
      <p:sp>
        <p:nvSpPr>
          <p:cNvPr id="4" name="Text 2"/>
          <p:cNvSpPr txBox="1"/>
          <p:nvPr/>
        </p:nvSpPr>
        <p:spPr>
          <a:xfrm>
            <a:off x="411480" y="758952"/>
            <a:ext cx="832104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Three-domain base study; public checkpoints optional</a:t>
            </a:r>
            <a:endParaRPr lang="en-US" sz="1250" dirty="0"/>
          </a:p>
        </p:txBody>
      </p:sp>
      <p:sp>
        <p:nvSpPr>
          <p:cNvPr id="5" name="Text 3"/>
          <p:cNvSpPr txBox="1"/>
          <p:nvPr/>
        </p:nvSpPr>
        <p:spPr>
          <a:xfrm>
            <a:off x="7863840" y="256032"/>
            <a:ext cx="914400" cy="274320"/>
          </a:xfrm>
          <a:prstGeom prst="rect">
            <a:avLst/>
          </a:prstGeom>
          <a:noFill/>
          <a:ln/>
        </p:spPr>
        <p:txBody>
          <a:bodyPr wrap="square" lIns="0" tIns="0" rIns="0" bIns="0" rtlCol="0" anchor="ctr"/>
          <a:lstStyle/>
          <a:p>
            <a:pPr algn="r" indent="0" marL="0">
              <a:buNone/>
            </a:pPr>
            <a:r>
              <a:rPr lang="en-US" sz="1100" b="1" dirty="0">
                <a:solidFill>
                  <a:srgbClr val="D95F02"/>
                </a:solidFill>
                <a:latin typeface="Calibri" pitchFamily="34" charset="0"/>
                <a:ea typeface="Calibri" pitchFamily="34" charset="-122"/>
                <a:cs typeface="Calibri" pitchFamily="34" charset="-120"/>
              </a:rPr>
              <a:t>BACKUP</a:t>
            </a:r>
            <a:endParaRPr lang="en-US" sz="1100" dirty="0"/>
          </a:p>
        </p:txBody>
      </p:sp>
      <p:sp>
        <p:nvSpPr>
          <p:cNvPr id="6" name="Shape 4"/>
          <p:cNvSpPr/>
          <p:nvPr/>
        </p:nvSpPr>
        <p:spPr>
          <a:xfrm>
            <a:off x="411480" y="1280160"/>
            <a:ext cx="8321040" cy="2286000"/>
          </a:xfrm>
          <a:prstGeom prst="rect">
            <a:avLst/>
          </a:prstGeom>
          <a:solidFill>
            <a:srgbClr val="111827"/>
          </a:solidFill>
          <a:ln w="12700">
            <a:solidFill>
              <a:srgbClr val="111827"/>
            </a:solidFill>
            <a:prstDash val="solid"/>
          </a:ln>
        </p:spPr>
      </p:sp>
      <p:sp>
        <p:nvSpPr>
          <p:cNvPr id="7" name="Text 5"/>
          <p:cNvSpPr txBox="1"/>
          <p:nvPr/>
        </p:nvSpPr>
        <p:spPr>
          <a:xfrm>
            <a:off x="640080" y="1417320"/>
            <a:ext cx="7863840" cy="2011680"/>
          </a:xfrm>
          <a:prstGeom prst="rect">
            <a:avLst/>
          </a:prstGeom>
          <a:noFill/>
          <a:ln/>
        </p:spPr>
        <p:txBody>
          <a:bodyPr wrap="square" lIns="0" tIns="0" rIns="0" bIns="0" rtlCol="0" anchor="t"/>
          <a:lstStyle/>
          <a:p>
            <a:pPr indent="0" marL="0">
              <a:spcAft>
                <a:spcPts val="700"/>
              </a:spcAft>
              <a:buNone/>
            </a:pPr>
            <a:r>
              <a:rPr lang="en-US" sz="1250" dirty="0">
                <a:solidFill>
                  <a:srgbClr val="E5E7EB"/>
                </a:solidFill>
                <a:latin typeface="Consolas" pitchFamily="34" charset="0"/>
                <a:ea typeface="Consolas" pitchFamily="34" charset="-122"/>
                <a:cs typeface="Consolas" pitchFamily="34" charset="-120"/>
              </a:rPr>
              <a:t>bash run_all.sh                      # clean run of SST-2 + finance + airline</a:t>
            </a:r>
            <a:endParaRPr lang="en-US" sz="1250" dirty="0"/>
          </a:p>
          <a:p>
            <a:pPr indent="0" marL="0">
              <a:spcAft>
                <a:spcPts val="700"/>
              </a:spcAft>
              <a:buNone/>
            </a:pPr>
            <a:r>
              <a:rPr lang="en-US" sz="1250" dirty="0">
                <a:solidFill>
                  <a:srgbClr val="E5E7EB"/>
                </a:solidFill>
                <a:latin typeface="Consolas" pitchFamily="34" charset="0"/>
                <a:ea typeface="Consolas" pitchFamily="34" charset="-122"/>
                <a:cs typeface="Consolas" pitchFamily="34" charset="-120"/>
              </a:rPr>
              <a:t>python run_experiments.py --stage families  # VADER, SVM, char n-gram, word2vec/fastText</a:t>
            </a:r>
            <a:endParaRPr lang="en-US" sz="1250" dirty="0"/>
          </a:p>
          <a:p>
            <a:pPr indent="0" marL="0">
              <a:spcAft>
                <a:spcPts val="700"/>
              </a:spcAft>
              <a:buNone/>
            </a:pPr>
            <a:r>
              <a:rPr lang="en-US" sz="1250" dirty="0">
                <a:solidFill>
                  <a:srgbClr val="E5E7EB"/>
                </a:solidFill>
                <a:latin typeface="Consolas" pitchFamily="34" charset="0"/>
                <a:ea typeface="Consolas" pitchFamily="34" charset="-122"/>
                <a:cs typeface="Consolas" pitchFamily="34" charset="-120"/>
              </a:rPr>
              <a:t>python ambiguity.py                  # SST-5 strata, AUROC, ECE</a:t>
            </a:r>
            <a:endParaRPr lang="en-US" sz="1250" dirty="0"/>
          </a:p>
          <a:p>
            <a:pPr indent="0" marL="0">
              <a:spcAft>
                <a:spcPts val="700"/>
              </a:spcAft>
              <a:buNone/>
            </a:pPr>
            <a:r>
              <a:rPr lang="en-US" sz="1250" dirty="0">
                <a:solidFill>
                  <a:srgbClr val="E5E7EB"/>
                </a:solidFill>
                <a:latin typeface="Consolas" pitchFamily="34" charset="0"/>
                <a:ea typeface="Consolas" pitchFamily="34" charset="-122"/>
                <a:cs typeface="Consolas" pitchFamily="34" charset="-120"/>
              </a:rPr>
              <a:t>python hf_benchmark.py --models ladder --tune  # size ladder, tuned lr</a:t>
            </a:r>
            <a:endParaRPr lang="en-US" sz="1250" dirty="0"/>
          </a:p>
        </p:txBody>
      </p:sp>
      <p:sp>
        <p:nvSpPr>
          <p:cNvPr id="8" name="Text 6"/>
          <p:cNvSpPr txBox="1"/>
          <p:nvPr/>
        </p:nvSpPr>
        <p:spPr>
          <a:xfrm>
            <a:off x="411480" y="3749040"/>
            <a:ext cx="8229600" cy="109728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F2937"/>
                </a:solidFill>
                <a:latin typeface="Calibri" pitchFamily="34" charset="0"/>
                <a:ea typeface="Calibri" pitchFamily="34" charset="-122"/>
                <a:cs typeface="Calibri" pitchFamily="34" charset="-120"/>
              </a:rPr>
              <a:t>Resumable runs and saved predictions; paired SST-2 tests plus an explicit optional multi-domain bootstrap</a:t>
            </a:r>
            <a:endParaRPr lang="en-US" sz="1300" dirty="0"/>
          </a:p>
          <a:p>
            <a:pPr marL="342900" indent="-342900">
              <a:spcAft>
                <a:spcPts val="700"/>
              </a:spcAft>
              <a:buSzPct val="100000"/>
              <a:buChar char="•"/>
            </a:pPr>
            <a:r>
              <a:rPr lang="en-US" sz="1300" dirty="0">
                <a:solidFill>
                  <a:srgbClr val="1F2937"/>
                </a:solidFill>
                <a:latin typeface="Calibri" pitchFamily="34" charset="0"/>
                <a:ea typeface="Calibri" pitchFamily="34" charset="-122"/>
                <a:cs typeface="Calibri" pitchFamily="34" charset="-120"/>
              </a:rPr>
              <a:t>Deliverables: code, technical docs, main report, 2-page report, ACM paper, this deck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Same Words, Different Bets</dc:title>
  <dc:subject>PptxGenJS Presentation</dc:subject>
  <dc:creator>PptxGenJS</dc:creator>
  <cp:lastModifiedBy>PptxGenJS</cp:lastModifiedBy>
  <cp:revision>1</cp:revision>
  <dcterms:created xsi:type="dcterms:W3CDTF">2026-10-13T17:42:11Z</dcterms:created>
  <dcterms:modified xsi:type="dcterms:W3CDTF">2026-10-13T17:42:11Z</dcterms:modified>
</cp:coreProperties>
</file>