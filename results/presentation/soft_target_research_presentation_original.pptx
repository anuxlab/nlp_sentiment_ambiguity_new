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Same Words, Different Bets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10–20 minute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Human vote distributions under scarce labels</a:t>
            </a:r>
          </a:p>
          <a:p>
            <a:pPr>
              <a:spcAft>
                <a:spcPts val="1300"/>
              </a:spcAft>
              <a:defRPr sz="2000"/>
            </a:pPr>
            <a:r>
              <a:t>Anurag Prasad · Research project</a:t>
            </a:r>
          </a:p>
          <a:p>
            <a:pPr>
              <a:spcAft>
                <a:spcPts val="1300"/>
              </a:spcAft>
              <a:defRPr sz="2000"/>
            </a:pPr>
            <a:r>
              <a:t>Two separate strands: original tiny-BERT benchmark and controlled TF-IDF soft-target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Research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Majority labels collapse multiple human judgments into one class.</a:t>
            </a:r>
          </a:p>
          <a:p>
            <a:pPr>
              <a:spcAft>
                <a:spcPts val="1300"/>
              </a:spcAft>
              <a:defRPr sz="2000"/>
            </a:pPr>
            <a:r>
              <a:t>Soft targets preserve empirical annotator-vote proportions.</a:t>
            </a:r>
          </a:p>
          <a:p>
            <a:pPr>
              <a:spcAft>
                <a:spcPts val="1300"/>
              </a:spcAft>
              <a:defRPr sz="2000"/>
            </a:pPr>
            <a:r>
              <a:t>Question: does this help when labeled data are scarce?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What is the gap?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Soft-label learning and label-distribution learning are established prior work.</a:t>
            </a:r>
          </a:p>
          <a:p>
            <a:pPr>
              <a:spcAft>
                <a:spcPts val="1300"/>
              </a:spcAft>
              <a:defRPr sz="2000"/>
            </a:pPr>
            <a:r>
              <a:t>The contribution is a controlled budget-by-dataset comparison with human-vote targets.</a:t>
            </a:r>
          </a:p>
          <a:p>
            <a:pPr>
              <a:spcAft>
                <a:spcPts val="1300"/>
              </a:spcAft>
              <a:defRPr sz="2000"/>
            </a:pPr>
            <a:r>
              <a:t>Measure distributional alignment and report hard-label/calibration trade-offs.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Does human soft-target training reduce JS divergence vs majority CE?</a:t>
            </a:r>
          </a:p>
          <a:p>
            <a:pPr>
              <a:spcAft>
                <a:spcPts val="1300"/>
              </a:spcAft>
              <a:defRPr sz="2000"/>
            </a:pPr>
            <a:r>
              <a:t>Do effects vary by budget, dataset, or DynaSent round?</a:t>
            </a:r>
          </a:p>
          <a:p>
            <a:pPr>
              <a:spcAft>
                <a:spcPts val="1300"/>
              </a:spcAft>
              <a:defRPr sz="2000"/>
            </a:pPr>
            <a:r>
              <a:t>Do distributional gains correspond to accuracy, macro-F1, or calibration?</a:t>
            </a:r>
          </a:p>
          <a:p>
            <a:pPr>
              <a:spcAft>
                <a:spcPts val="1300"/>
              </a:spcAft>
              <a:defRPr sz="2000"/>
            </a:pPr>
            <a:r>
              <a:t>How does null augmentation behave as a separate data-composition ablation?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Datasets and eligibility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DynaSent Round 1: 3,600 test examples; four vote categories.</a:t>
            </a:r>
          </a:p>
          <a:p>
            <a:pPr>
              <a:spcAft>
                <a:spcPts val="1300"/>
              </a:spcAft>
              <a:defRPr sz="2000"/>
            </a:pPr>
            <a:r>
              <a:t>DynaSent Round 2: 720 test examples; same four-category scheme.</a:t>
            </a:r>
          </a:p>
          <a:p>
            <a:pPr>
              <a:spcAft>
                <a:spcPts val="1300"/>
              </a:spcAft>
              <a:defRPr sz="2000"/>
            </a:pPr>
            <a:r>
              <a:t>SentiMP-En: 337/48/95 train/dev/test; only 95 test examples.</a:t>
            </a:r>
          </a:p>
          <a:p>
            <a:pPr>
              <a:spcAft>
                <a:spcPts val="1300"/>
              </a:spcAft>
              <a:defRPr sz="2000"/>
            </a:pPr>
            <a:r>
              <a:t>MVSC/PRemo/FinLin remain gated; hard-label datasets are not vote-distribution substitutes.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Budgets: 25, 50, 100, 200, 300; seeds 0–9.</a:t>
            </a:r>
          </a:p>
          <a:p>
            <a:pPr>
              <a:spcAft>
                <a:spcPts val="1300"/>
              </a:spcAft>
              <a:defRPr sz="2000"/>
            </a:pPr>
            <a:r>
              <a:t>Matched conditions: majority CE, human soft targets, label smoothing.</a:t>
            </a:r>
          </a:p>
          <a:p>
            <a:pPr>
              <a:spcAft>
                <a:spcPts val="1300"/>
              </a:spcAft>
              <a:defRPr sz="2000"/>
            </a:pPr>
            <a:r>
              <a:t>DynaSent also has null-augmented soft targets; SentiMP-En has tie-inclusive condition.</a:t>
            </a:r>
          </a:p>
          <a:p>
            <a:pPr>
              <a:spcAft>
                <a:spcPts val="1300"/>
              </a:spcAft>
              <a:defRPr sz="2000"/>
            </a:pPr>
            <a:r>
              <a:t>Extra conditions alter training composition and are not objective-only contrasts.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Targets and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Human soft target = normalized empirical annotator-vote proportions.</a:t>
            </a:r>
          </a:p>
          <a:p>
            <a:pPr>
              <a:spcAft>
                <a:spcPts val="1300"/>
              </a:spcAft>
              <a:defRPr sz="2000"/>
            </a:pPr>
            <a:r>
              <a:t>Primary: JS divergence in bits to human vote distribution; lower is better.</a:t>
            </a:r>
          </a:p>
          <a:p>
            <a:pPr>
              <a:spcAft>
                <a:spcPts val="1300"/>
              </a:spcAft>
              <a:defRPr sz="2000"/>
            </a:pPr>
            <a:r>
              <a:t>Contrast ΔJS = JS(soft) − JS(majority); negative favors soft targets.</a:t>
            </a:r>
          </a:p>
          <a:p>
            <a:pPr>
              <a:spcAft>
                <a:spcPts val="1300"/>
              </a:spcAft>
              <a:defRPr sz="2000"/>
            </a:pPr>
            <a:r>
              <a:t>Secondary: soft Brier, accuracy, macro-F1, ECE, training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Statistical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15 primary dataset/round-by-budget comparisons.</a:t>
            </a:r>
          </a:p>
          <a:p>
            <a:pPr>
              <a:spcAft>
                <a:spcPts val="1300"/>
              </a:spcAft>
              <a:defRPr sz="2000"/>
            </a:pPr>
            <a:r>
              <a:t>Paired seed-level exact sign-flip tests with Holm correction.</a:t>
            </a:r>
          </a:p>
          <a:p>
            <a:pPr>
              <a:spcAft>
                <a:spcPts val="1300"/>
              </a:spcAft>
              <a:defRPr sz="2000"/>
            </a:pPr>
            <a:r>
              <a:t>Two-level bootstrap: resample seeds and test examples; 10,000 replicates.</a:t>
            </a:r>
          </a:p>
          <a:p>
            <a:pPr>
              <a:spcAft>
                <a:spcPts val="1300"/>
              </a:spcAft>
              <a:defRPr sz="2000"/>
            </a:pPr>
            <a:r>
              <a:t>Bootstrap intervals are unadjusted; do not conflate them with Holm-adjusted p-values.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All 15 mean JS differences are negative.</a:t>
            </a:r>
          </a:p>
          <a:p>
            <a:pPr>
              <a:spcAft>
                <a:spcPts val="1300"/>
              </a:spcAft>
              <a:defRPr sz="2000"/>
            </a:pPr>
            <a:r>
              <a:t>Only DynaSent Round 2 at budget 300 survives Holm correction.</a:t>
            </a:r>
          </a:p>
          <a:p>
            <a:pPr>
              <a:spcAft>
                <a:spcPts val="1300"/>
              </a:spcAft>
              <a:defRPr sz="2000"/>
            </a:pPr>
            <a:r>
              <a:t>Holm-adjusted p = 0.029297.</a:t>
            </a:r>
          </a:p>
          <a:p>
            <a:pPr>
              <a:spcAft>
                <a:spcPts val="1300"/>
              </a:spcAft>
              <a:defRPr sz="2000"/>
            </a:pPr>
            <a:r>
              <a:t>Directional consistency is promising but does not establish universal superiority.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DynaSent budget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Mean JS decreases with larger training budgets in both rounds.</a:t>
            </a:r>
          </a:p>
          <a:p>
            <a:pPr>
              <a:spcAft>
                <a:spcPts val="1300"/>
              </a:spcAft>
              <a:defRPr sz="2000"/>
            </a:pPr>
            <a:r>
              <a:t>Human soft targets have lower mean JS than majority CE at all tested budgets.</a:t>
            </a:r>
          </a:p>
          <a:p>
            <a:pPr>
              <a:spcAft>
                <a:spcPts val="1300"/>
              </a:spcAft>
              <a:defRPr sz="2000"/>
            </a:pPr>
            <a:r>
              <a:t>Round 1 and Round 2 differ in size and annotation characteristics; report separately.</a:t>
            </a:r>
          </a:p>
          <a:p>
            <a:pPr>
              <a:spcAft>
                <a:spcPts val="1300"/>
              </a:spcAft>
              <a:defRPr sz="2000"/>
            </a:pPr>
            <a:r>
              <a:t>(Insert regenerated plot from canonical CSVs for final defense.)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SentiMP-En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Human soft targets show lower mean JS than majority CE across the five budgets.</a:t>
            </a:r>
          </a:p>
          <a:p>
            <a:pPr>
              <a:spcAft>
                <a:spcPts val="1300"/>
              </a:spcAft>
              <a:defRPr sz="2000"/>
            </a:pPr>
            <a:r>
              <a:t>Test set contains only 95 examples, so estimates are imprecise.</a:t>
            </a:r>
          </a:p>
          <a:p>
            <a:pPr>
              <a:spcAft>
                <a:spcPts val="1300"/>
              </a:spcAft>
              <a:defRPr sz="2000"/>
            </a:pPr>
            <a:r>
              <a:t>No SentiMP-En comparison survives the 15-test Holm correction.</a:t>
            </a:r>
          </a:p>
          <a:p>
            <a:pPr>
              <a:spcAft>
                <a:spcPts val="1300"/>
              </a:spcAft>
              <a:defRPr sz="2000"/>
            </a:pPr>
            <a:r>
              <a:t>Treat this as supporting evidence, not decisive confirmation.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Validation and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DynaSent: 400/400 expected metric combinations; 864,000 prediction rows; zero reported validation errors.</a:t>
            </a:r>
          </a:p>
          <a:p>
            <a:pPr>
              <a:spcAft>
                <a:spcPts val="1300"/>
              </a:spcAft>
              <a:defRPr sz="2000"/>
            </a:pPr>
            <a:r>
              <a:t>SentiMP-En: 200 metric rows; 19,000 predictions.</a:t>
            </a:r>
          </a:p>
          <a:p>
            <a:pPr>
              <a:spcAft>
                <a:spcPts val="1300"/>
              </a:spcAft>
              <a:defRPr sz="2000"/>
            </a:pPr>
            <a:r>
              <a:t>Independent JS recomputation covered 883,000 rows within 1e−6 tolerance.</a:t>
            </a:r>
          </a:p>
          <a:p>
            <a:pPr>
              <a:spcAft>
                <a:spcPts val="1300"/>
              </a:spcAft>
              <a:defRPr sz="2000"/>
            </a:pPr>
            <a:r>
              <a:t>Numerical consistency does not validate all modeling or data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What did not settle?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No universal corrected advantage.</a:t>
            </a:r>
          </a:p>
          <a:p>
            <a:pPr>
              <a:spcAft>
                <a:spcPts val="1300"/>
              </a:spcAft>
              <a:defRPr sz="2000"/>
            </a:pPr>
            <a:r>
              <a:t>Fixed test sets limit population-level uncertainty.</a:t>
            </a:r>
          </a:p>
          <a:p>
            <a:pPr>
              <a:spcAft>
                <a:spcPts val="1300"/>
              </a:spcAft>
              <a:defRPr sz="2000"/>
            </a:pPr>
            <a:r>
              <a:t>Null-augmented and tie-inclusive conditions change training composition.</a:t>
            </a:r>
          </a:p>
          <a:p>
            <a:pPr>
              <a:spcAft>
                <a:spcPts val="1300"/>
              </a:spcAft>
              <a:defRPr sz="2000"/>
            </a:pPr>
            <a:r>
              <a:t>Literature search is targeted/exploratory; closest sentiment-LDL work needs full audit.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Narrow conclusion: promising, context-dependent distribution-alignment signal.</a:t>
            </a:r>
          </a:p>
          <a:p>
            <a:pPr>
              <a:spcAft>
                <a:spcPts val="1300"/>
              </a:spcAft>
              <a:defRPr sz="2000"/>
            </a:pPr>
            <a:r>
              <a:t>Freeze source revision, manifests, raw predictions, metrics and checksums.</a:t>
            </a:r>
          </a:p>
          <a:p>
            <a:pPr>
              <a:spcAft>
                <a:spcPts val="1300"/>
              </a:spcAft>
              <a:defRPr sz="2000"/>
            </a:pPr>
            <a:r>
              <a:t>Regenerate figures/tables; audit initialization/feature fitting; expand validated datasets.</a:t>
            </a:r>
          </a:p>
          <a:p>
            <a:pPr>
              <a:spcAft>
                <a:spcPts val="1300"/>
              </a:spcAft>
              <a:defRPr sz="2000"/>
            </a:pPr>
            <a:r>
              <a:t>Supervisor review and venue-specific formatting before submission.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Selected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/>
            </a:pPr>
            <a:r>
              <a:t>Potts et al. (2021), DynaSent, ACL Anthology.</a:t>
            </a:r>
          </a:p>
          <a:p>
            <a:pPr>
              <a:spcAft>
                <a:spcPts val="1300"/>
              </a:spcAft>
              <a:defRPr sz="1700"/>
            </a:pPr>
            <a:r>
              <a:t>Fornaciari et al. (2021), annotator disagreement via soft-label multi-task learning.</a:t>
            </a:r>
          </a:p>
          <a:p>
            <a:pPr>
              <a:spcAft>
                <a:spcPts val="1300"/>
              </a:spcAft>
              <a:defRPr sz="1700"/>
            </a:pPr>
            <a:r>
              <a:t>Jamison &amp; Gurevych (2023), soft labels from annotations.</a:t>
            </a:r>
          </a:p>
          <a:p>
            <a:pPr>
              <a:spcAft>
                <a:spcPts val="1300"/>
              </a:spcAft>
              <a:defRPr sz="1700"/>
            </a:pPr>
            <a:r>
              <a:t>Solorio et al. (2023), direct training vs aggregation.</a:t>
            </a:r>
          </a:p>
          <a:p>
            <a:pPr>
              <a:spcAft>
                <a:spcPts val="1300"/>
              </a:spcAft>
              <a:defRPr sz="1700"/>
            </a:pPr>
            <a:r>
              <a:t>Viering &amp; Loog (2023), learning-curve review; verify all final metadata.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